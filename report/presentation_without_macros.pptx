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278" r:id="rId5"/>
    <p:sldId id="311" r:id="rId6"/>
    <p:sldId id="310" r:id="rId7"/>
    <p:sldId id="312" r:id="rId8"/>
    <p:sldId id="313" r:id="rId9"/>
    <p:sldId id="302" r:id="rId10"/>
    <p:sldId id="314" r:id="rId11"/>
    <p:sldId id="315" r:id="rId12"/>
    <p:sldId id="316" r:id="rId13"/>
    <p:sldId id="306" r:id="rId14"/>
    <p:sldId id="307" r:id="rId15"/>
    <p:sldId id="308" r:id="rId16"/>
    <p:sldId id="317" r:id="rId17"/>
    <p:sldId id="309" r:id="rId18"/>
  </p:sldIdLst>
  <p:sldSz cx="12192000" cy="6858000"/>
  <p:notesSz cx="6858000" cy="9144000"/>
  <p:defaultTextStyle>
    <a:defPPr rtl="0">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6" autoAdjust="0"/>
    <p:restoredTop sz="83475" autoAdjust="0"/>
  </p:normalViewPr>
  <p:slideViewPr>
    <p:cSldViewPr snapToGrid="0">
      <p:cViewPr varScale="1">
        <p:scale>
          <a:sx n="79" d="100"/>
          <a:sy n="79" d="100"/>
        </p:scale>
        <p:origin x="567" y="45"/>
      </p:cViewPr>
      <p:guideLst/>
    </p:cSldViewPr>
  </p:slideViewPr>
  <p:outlineViewPr>
    <p:cViewPr>
      <p:scale>
        <a:sx n="33" d="100"/>
        <a:sy n="33" d="100"/>
      </p:scale>
      <p:origin x="0" y="-2880"/>
    </p:cViewPr>
  </p:outlineViewPr>
  <p:notesTextViewPr>
    <p:cViewPr>
      <p:scale>
        <a:sx n="3" d="2"/>
        <a:sy n="3" d="2"/>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vl1pPr>
          </a:lstStyle>
          <a:p>
            <a:pPr rtl="0"/>
            <a:endParaRPr lang="de-DE" dirty="0"/>
          </a:p>
        </p:txBody>
      </p:sp>
      <p:sp>
        <p:nvSpPr>
          <p:cNvPr id="3" name="Datumsplatzhalt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de-DE" sz="1200"/>
            </a:lvl1pPr>
          </a:lstStyle>
          <a:p>
            <a:pPr rtl="0"/>
            <a:fld id="{F456E1CD-5B60-4466-B275-926A3C2BF5C1}" type="datetime1">
              <a:rPr lang="de-DE" smtClean="0"/>
              <a:t>14.01.2026</a:t>
            </a:fld>
            <a:endParaRPr lang="de-DE" dirty="0"/>
          </a:p>
        </p:txBody>
      </p:sp>
      <p:sp>
        <p:nvSpPr>
          <p:cNvPr id="4" name="Fußzeilenplatzhalt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de-DE" sz="1200"/>
            </a:lvl1pPr>
          </a:lstStyle>
          <a:p>
            <a:pPr rtl="0"/>
            <a:endParaRPr lang="de-DE" dirty="0"/>
          </a:p>
        </p:txBody>
      </p:sp>
      <p:sp>
        <p:nvSpPr>
          <p:cNvPr id="5" name="Foliennummernplatzhalt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de-DE" sz="1200"/>
            </a:lvl1pPr>
          </a:lstStyle>
          <a:p>
            <a:pPr rtl="0"/>
            <a:fld id="{28EEFA9E-C190-4F5C-8394-BD5F1CD55C02}" type="slidenum">
              <a:rPr lang="de-DE" smtClean="0"/>
              <a:t>‹Nr.›</a:t>
            </a:fld>
            <a:endParaRPr lang="de-DE"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de-DE" sz="1200"/>
            </a:lvl1pPr>
          </a:lstStyle>
          <a:p>
            <a:pPr rtl="0"/>
            <a:endParaRPr lang="de-DE" dirty="0"/>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de-DE" sz="1200"/>
            </a:lvl1pPr>
          </a:lstStyle>
          <a:p>
            <a:pPr rtl="0"/>
            <a:fld id="{FDF1D034-8769-4200-89E2-A3A6187E6BC9}" type="datetime1">
              <a:rPr lang="de-DE" smtClean="0"/>
              <a:t>14.01.2026</a:t>
            </a:fld>
            <a:endParaRPr lang="de-DE" dirty="0"/>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de-DE"/>
            </a:defPPr>
          </a:lstStyle>
          <a:p>
            <a:pPr rtl="0"/>
            <a:endParaRPr lang="de-DE" dirty="0"/>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de-DE" sz="1200"/>
            </a:lvl1pPr>
          </a:lstStyle>
          <a:p>
            <a:pPr rtl="0"/>
            <a:endParaRPr lang="de-DE" dirty="0"/>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de-DE" sz="1200"/>
            </a:lvl1pPr>
          </a:lstStyle>
          <a:p>
            <a:pPr rtl="0"/>
            <a:fld id="{22289C57-55D7-40A4-A101-E74FAC7A092B}" type="slidenum">
              <a:rPr lang="de-DE" smtClean="0"/>
              <a:t>‹Nr.›</a:t>
            </a:fld>
            <a:endParaRPr lang="de-DE"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de-DE" sz="1200" kern="1200">
        <a:solidFill>
          <a:schemeClr val="tx1"/>
        </a:solidFill>
        <a:latin typeface="+mn-lt"/>
        <a:ea typeface="+mn-ea"/>
        <a:cs typeface="+mn-cs"/>
      </a:defRPr>
    </a:lvl1pPr>
    <a:lvl2pPr marL="457200" algn="l" defTabSz="914400" rtl="0" eaLnBrk="1" latinLnBrk="0" hangingPunct="1">
      <a:defRPr lang="de-DE" sz="1200" kern="1200">
        <a:solidFill>
          <a:schemeClr val="tx1"/>
        </a:solidFill>
        <a:latin typeface="+mn-lt"/>
        <a:ea typeface="+mn-ea"/>
        <a:cs typeface="+mn-cs"/>
      </a:defRPr>
    </a:lvl2pPr>
    <a:lvl3pPr marL="914400" algn="l" defTabSz="914400" rtl="0" eaLnBrk="1" latinLnBrk="0" hangingPunct="1">
      <a:defRPr lang="de-DE" sz="1200" kern="1200">
        <a:solidFill>
          <a:schemeClr val="tx1"/>
        </a:solidFill>
        <a:latin typeface="+mn-lt"/>
        <a:ea typeface="+mn-ea"/>
        <a:cs typeface="+mn-cs"/>
      </a:defRPr>
    </a:lvl3pPr>
    <a:lvl4pPr marL="1371600" algn="l" defTabSz="914400" rtl="0" eaLnBrk="1" latinLnBrk="0" hangingPunct="1">
      <a:defRPr lang="de-DE" sz="1200" kern="1200">
        <a:solidFill>
          <a:schemeClr val="tx1"/>
        </a:solidFill>
        <a:latin typeface="+mn-lt"/>
        <a:ea typeface="+mn-ea"/>
        <a:cs typeface="+mn-cs"/>
      </a:defRPr>
    </a:lvl4pPr>
    <a:lvl5pPr marL="1828800" algn="l" defTabSz="914400" rtl="0" eaLnBrk="1" latinLnBrk="0" hangingPunct="1">
      <a:defRPr lang="de-DE" sz="1200" kern="1200">
        <a:solidFill>
          <a:schemeClr val="tx1"/>
        </a:solidFill>
        <a:latin typeface="+mn-lt"/>
        <a:ea typeface="+mn-ea"/>
        <a:cs typeface="+mn-cs"/>
      </a:defRPr>
    </a:lvl5pPr>
    <a:lvl6pPr marL="2286000" algn="l" defTabSz="914400" rtl="0" eaLnBrk="1" latinLnBrk="0" hangingPunct="1">
      <a:defRPr lang="de-DE" sz="1200" kern="1200">
        <a:solidFill>
          <a:schemeClr val="tx1"/>
        </a:solidFill>
        <a:latin typeface="+mn-lt"/>
        <a:ea typeface="+mn-ea"/>
        <a:cs typeface="+mn-cs"/>
      </a:defRPr>
    </a:lvl6pPr>
    <a:lvl7pPr marL="2743200" algn="l" defTabSz="914400" rtl="0" eaLnBrk="1" latinLnBrk="0" hangingPunct="1">
      <a:defRPr lang="de-DE" sz="1200" kern="1200">
        <a:solidFill>
          <a:schemeClr val="tx1"/>
        </a:solidFill>
        <a:latin typeface="+mn-lt"/>
        <a:ea typeface="+mn-ea"/>
        <a:cs typeface="+mn-cs"/>
      </a:defRPr>
    </a:lvl7pPr>
    <a:lvl8pPr marL="3200400" algn="l" defTabSz="914400" rtl="0" eaLnBrk="1" latinLnBrk="0" hangingPunct="1">
      <a:defRPr lang="de-DE" sz="1200" kern="1200">
        <a:solidFill>
          <a:schemeClr val="tx1"/>
        </a:solidFill>
        <a:latin typeface="+mn-lt"/>
        <a:ea typeface="+mn-ea"/>
        <a:cs typeface="+mn-cs"/>
      </a:defRPr>
    </a:lvl8pPr>
    <a:lvl9pPr marL="3657600" algn="l" defTabSz="914400" rtl="0" eaLnBrk="1" latinLnBrk="0" hangingPunct="1">
      <a:defRPr lang="de-DE"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defPPr>
              <a:defRPr lang="de-DE"/>
            </a:defPPr>
          </a:lstStyle>
          <a:p>
            <a:pPr rtl="0"/>
            <a:r>
              <a:rPr lang="en-US" dirty="0"/>
              <a:t>Hi and welcome to my project presentation.</a:t>
            </a:r>
            <a:endParaRPr lang="de-DE" dirty="0"/>
          </a:p>
        </p:txBody>
      </p:sp>
      <p:sp>
        <p:nvSpPr>
          <p:cNvPr id="4" name="Foliennummernplatzhalter 3"/>
          <p:cNvSpPr>
            <a:spLocks noGrp="1"/>
          </p:cNvSpPr>
          <p:nvPr>
            <p:ph type="sldNum" sz="quarter" idx="5"/>
          </p:nvPr>
        </p:nvSpPr>
        <p:spPr/>
        <p:txBody>
          <a:bodyPr rtlCol="0"/>
          <a:lstStyle>
            <a:defPPr>
              <a:defRPr lang="de-DE"/>
            </a:defPPr>
          </a:lstStyle>
          <a:p>
            <a:pPr rtl="0"/>
            <a:fld id="{22289C57-55D7-40A4-A101-E74FAC7A092B}" type="slidenum">
              <a:rPr lang="de-DE" smtClean="0"/>
              <a:t>1</a:t>
            </a:fld>
            <a:endParaRPr lang="de-DE" dirty="0"/>
          </a:p>
        </p:txBody>
      </p:sp>
    </p:spTree>
    <p:extLst>
      <p:ext uri="{BB962C8B-B14F-4D97-AF65-F5344CB8AC3E}">
        <p14:creationId xmlns:p14="http://schemas.microsoft.com/office/powerpoint/2010/main" val="2182522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3246E-267D-3E9B-5DB5-F9F9162DA9B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4A4AD18-C713-3415-04A6-4AF47BF57CE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A7C6404-1D91-F214-AD26-AD254A6C77C6}"/>
              </a:ext>
            </a:extLst>
          </p:cNvPr>
          <p:cNvSpPr>
            <a:spLocks noGrp="1"/>
          </p:cNvSpPr>
          <p:nvPr>
            <p:ph type="body" idx="1"/>
          </p:nvPr>
        </p:nvSpPr>
        <p:spPr/>
        <p:txBody>
          <a:bodyPr rtlCol="0"/>
          <a:lstStyle>
            <a:defPPr>
              <a:defRPr lang="de-DE"/>
            </a:defPPr>
          </a:lstStyle>
          <a:p>
            <a:pPr rtl="0"/>
            <a:r>
              <a:rPr lang="en-US" dirty="0"/>
              <a:t>As all of you know, large language models are extremely powerful but also extremely large. GPT-3, released six years ago, already had 175 billion weights.</a:t>
            </a:r>
          </a:p>
          <a:p>
            <a:pPr rtl="0"/>
            <a:endParaRPr lang="de-DE" dirty="0"/>
          </a:p>
        </p:txBody>
      </p:sp>
      <p:sp>
        <p:nvSpPr>
          <p:cNvPr id="4" name="Foliennummernplatzhalter 3">
            <a:extLst>
              <a:ext uri="{FF2B5EF4-FFF2-40B4-BE49-F238E27FC236}">
                <a16:creationId xmlns:a16="http://schemas.microsoft.com/office/drawing/2014/main" id="{BCAA81A3-DEEC-A0D3-6B80-ACF1F9819469}"/>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2</a:t>
            </a:fld>
            <a:endParaRPr lang="de-DE" dirty="0"/>
          </a:p>
        </p:txBody>
      </p:sp>
    </p:spTree>
    <p:extLst>
      <p:ext uri="{BB962C8B-B14F-4D97-AF65-F5344CB8AC3E}">
        <p14:creationId xmlns:p14="http://schemas.microsoft.com/office/powerpoint/2010/main" val="3122863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523B5-2E55-ADA8-53E8-928830B1D67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946EE83-01C7-94AB-1AFC-499E7555EFC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6933129-D0D1-5E06-FE71-430A7867E2CF}"/>
              </a:ext>
            </a:extLst>
          </p:cNvPr>
          <p:cNvSpPr>
            <a:spLocks noGrp="1"/>
          </p:cNvSpPr>
          <p:nvPr>
            <p:ph type="body" idx="1"/>
          </p:nvPr>
        </p:nvSpPr>
        <p:spPr/>
        <p:txBody>
          <a:bodyPr rtlCol="0"/>
          <a:lstStyle>
            <a:defPPr>
              <a:defRPr lang="de-DE"/>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saved as 32-bit floats, these weights take up around 700 gigabytes. To run inference, we would need to load the entire model on GPUs, which would take 9 H100 GPUs. Now you may ask, is there any way to run such a large model on a single GPU?</a:t>
            </a:r>
          </a:p>
          <a:p>
            <a:pPr rtl="0"/>
            <a:endParaRPr lang="de-DE" dirty="0"/>
          </a:p>
        </p:txBody>
      </p:sp>
      <p:sp>
        <p:nvSpPr>
          <p:cNvPr id="4" name="Foliennummernplatzhalter 3">
            <a:extLst>
              <a:ext uri="{FF2B5EF4-FFF2-40B4-BE49-F238E27FC236}">
                <a16:creationId xmlns:a16="http://schemas.microsoft.com/office/drawing/2014/main" id="{DA8FF55D-56B1-149A-0E3F-574C6D6330A1}"/>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3</a:t>
            </a:fld>
            <a:endParaRPr lang="de-DE" dirty="0"/>
          </a:p>
        </p:txBody>
      </p:sp>
    </p:spTree>
    <p:extLst>
      <p:ext uri="{BB962C8B-B14F-4D97-AF65-F5344CB8AC3E}">
        <p14:creationId xmlns:p14="http://schemas.microsoft.com/office/powerpoint/2010/main" val="3380650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EDB8B3-FDD2-F70B-D502-7E2F196BF82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D4EFCF2-8EE5-6DFD-8675-7B6BC1B8A58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75731E2-50AC-78FF-CD95-0B90236FE36E}"/>
              </a:ext>
            </a:extLst>
          </p:cNvPr>
          <p:cNvSpPr>
            <a:spLocks noGrp="1"/>
          </p:cNvSpPr>
          <p:nvPr>
            <p:ph type="body" idx="1"/>
          </p:nvPr>
        </p:nvSpPr>
        <p:spPr/>
        <p:txBody>
          <a:bodyPr rtlCol="0"/>
          <a:lstStyle>
            <a:defPPr>
              <a:defRPr lang="de-DE"/>
            </a:defPPr>
          </a:lstStyle>
          <a:p>
            <a:pPr rtl="0"/>
            <a:r>
              <a:rPr lang="en-US" dirty="0"/>
              <a:t>The answer is quantization.</a:t>
            </a:r>
          </a:p>
          <a:p>
            <a:pPr rtl="0"/>
            <a:r>
              <a:rPr lang="en-US" dirty="0"/>
              <a:t>This technique reduces model weights from 32-bit floats to 8 or 4-bit integers. As you might expect, this reduces performance. We can either naively round weights, or use sophisticated techniques like GPTQ which adjust weights one after another to minimize error. All of this is done post-training.</a:t>
            </a:r>
          </a:p>
          <a:p>
            <a:pPr rtl="0"/>
            <a:endParaRPr lang="de-DE" dirty="0"/>
          </a:p>
        </p:txBody>
      </p:sp>
      <p:sp>
        <p:nvSpPr>
          <p:cNvPr id="4" name="Foliennummernplatzhalter 3">
            <a:extLst>
              <a:ext uri="{FF2B5EF4-FFF2-40B4-BE49-F238E27FC236}">
                <a16:creationId xmlns:a16="http://schemas.microsoft.com/office/drawing/2014/main" id="{7426737F-8A50-4D05-2281-265037597DEE}"/>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4</a:t>
            </a:fld>
            <a:endParaRPr lang="de-DE" dirty="0"/>
          </a:p>
        </p:txBody>
      </p:sp>
    </p:spTree>
    <p:extLst>
      <p:ext uri="{BB962C8B-B14F-4D97-AF65-F5344CB8AC3E}">
        <p14:creationId xmlns:p14="http://schemas.microsoft.com/office/powerpoint/2010/main" val="749264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62247-6D9F-BE72-7BA1-E9C8EAE159E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859CA9A-9B00-9FCA-CEF7-FCBC31118AB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4C8D5E-E9B7-9B4F-7BA9-5C81DB2CDC27}"/>
              </a:ext>
            </a:extLst>
          </p:cNvPr>
          <p:cNvSpPr>
            <a:spLocks noGrp="1"/>
          </p:cNvSpPr>
          <p:nvPr>
            <p:ph type="body" idx="1"/>
          </p:nvPr>
        </p:nvSpPr>
        <p:spPr/>
        <p:txBody>
          <a:bodyPr rtlCol="0"/>
          <a:lstStyle>
            <a:defPPr>
              <a:defRPr lang="de-DE"/>
            </a:defPPr>
          </a:lstStyle>
          <a:p>
            <a:pPr rtl="0"/>
            <a:r>
              <a:rPr lang="en-US" dirty="0"/>
              <a:t>If we applied this to GPT-3, we could reduce the model size to around 80 gigabytes and run it on a single H100 GPU. This also paves the way for faster inference using integer operations.</a:t>
            </a:r>
          </a:p>
          <a:p>
            <a:pPr rtl="0"/>
            <a:endParaRPr lang="de-DE" dirty="0"/>
          </a:p>
        </p:txBody>
      </p:sp>
      <p:sp>
        <p:nvSpPr>
          <p:cNvPr id="4" name="Foliennummernplatzhalter 3">
            <a:extLst>
              <a:ext uri="{FF2B5EF4-FFF2-40B4-BE49-F238E27FC236}">
                <a16:creationId xmlns:a16="http://schemas.microsoft.com/office/drawing/2014/main" id="{689B541D-5556-8B7B-13E3-1B1969A92DC2}"/>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5</a:t>
            </a:fld>
            <a:endParaRPr lang="de-DE" dirty="0"/>
          </a:p>
        </p:txBody>
      </p:sp>
    </p:spTree>
    <p:extLst>
      <p:ext uri="{BB962C8B-B14F-4D97-AF65-F5344CB8AC3E}">
        <p14:creationId xmlns:p14="http://schemas.microsoft.com/office/powerpoint/2010/main" val="2921316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3B788-16E3-7967-B474-2F7AD2AD8F8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FAEE2BC-796F-B762-AC3E-8567929506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653AEC-6CE5-7012-6D64-D63BF23032E0}"/>
              </a:ext>
            </a:extLst>
          </p:cNvPr>
          <p:cNvSpPr>
            <a:spLocks noGrp="1"/>
          </p:cNvSpPr>
          <p:nvPr>
            <p:ph type="body" idx="1"/>
          </p:nvPr>
        </p:nvSpPr>
        <p:spPr/>
        <p:txBody>
          <a:bodyPr rtlCol="0"/>
          <a:lstStyle>
            <a:defPPr>
              <a:defRPr lang="de-DE"/>
            </a:defPPr>
          </a:lstStyle>
          <a:p>
            <a:pPr rtl="0"/>
            <a:r>
              <a:rPr lang="en-US" dirty="0"/>
              <a:t>So what did I do?</a:t>
            </a:r>
          </a:p>
          <a:p>
            <a:pPr rtl="0"/>
            <a:endParaRPr lang="en-US" dirty="0"/>
          </a:p>
          <a:p>
            <a:pPr rtl="0"/>
            <a:r>
              <a:rPr lang="en-US" dirty="0"/>
              <a:t>I re-implemented a small 2 to 3 million parameter autoregressive transformer from scratch, based on the </a:t>
            </a:r>
            <a:r>
              <a:rPr lang="en-US" dirty="0" err="1"/>
              <a:t>NanoGPT</a:t>
            </a:r>
            <a:r>
              <a:rPr lang="en-US" dirty="0"/>
              <a:t> implementation by Andrei </a:t>
            </a:r>
            <a:r>
              <a:rPr lang="en-US" dirty="0" err="1"/>
              <a:t>Karpathy</a:t>
            </a:r>
            <a:r>
              <a:rPr lang="en-US" dirty="0"/>
              <a:t>.</a:t>
            </a:r>
          </a:p>
          <a:p>
            <a:pPr rtl="0"/>
            <a:r>
              <a:rPr lang="en-US" dirty="0"/>
              <a:t>I trained it locally on my tiny notebook GPU for 11 hours on a dataset of short stories.</a:t>
            </a:r>
          </a:p>
          <a:p>
            <a:pPr rtl="0"/>
            <a:endParaRPr lang="de-DE" dirty="0"/>
          </a:p>
        </p:txBody>
      </p:sp>
      <p:sp>
        <p:nvSpPr>
          <p:cNvPr id="4" name="Foliennummernplatzhalter 3">
            <a:extLst>
              <a:ext uri="{FF2B5EF4-FFF2-40B4-BE49-F238E27FC236}">
                <a16:creationId xmlns:a16="http://schemas.microsoft.com/office/drawing/2014/main" id="{B00896E4-A40A-B0E7-D4B2-E802CD4CBCEB}"/>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6</a:t>
            </a:fld>
            <a:endParaRPr lang="de-DE" dirty="0"/>
          </a:p>
        </p:txBody>
      </p:sp>
    </p:spTree>
    <p:extLst>
      <p:ext uri="{BB962C8B-B14F-4D97-AF65-F5344CB8AC3E}">
        <p14:creationId xmlns:p14="http://schemas.microsoft.com/office/powerpoint/2010/main" val="39445315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20F3C-D31F-F388-B117-B93F8421E95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1194D2C-7683-6B46-3252-DBB5D514493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05BE944-0B7A-43D5-7D51-C30768A4162E}"/>
              </a:ext>
            </a:extLst>
          </p:cNvPr>
          <p:cNvSpPr>
            <a:spLocks noGrp="1"/>
          </p:cNvSpPr>
          <p:nvPr>
            <p:ph type="body" idx="1"/>
          </p:nvPr>
        </p:nvSpPr>
        <p:spPr/>
        <p:txBody>
          <a:bodyPr rtlCol="0"/>
          <a:lstStyle>
            <a:defPPr>
              <a:defRPr lang="de-DE"/>
            </a:defPPr>
          </a:lstStyle>
          <a:p>
            <a:pPr rtl="0"/>
            <a:endParaRPr lang="en-US" dirty="0"/>
          </a:p>
          <a:p>
            <a:pPr rtl="0"/>
            <a:r>
              <a:rPr lang="en-US" dirty="0"/>
              <a:t>I then implemented naive rounding and the GPTQ technique, quantizing my trained model to 8-bit integers to compare and evaluate the variants.</a:t>
            </a:r>
          </a:p>
          <a:p>
            <a:pPr rtl="0"/>
            <a:endParaRPr lang="de-DE" dirty="0"/>
          </a:p>
        </p:txBody>
      </p:sp>
      <p:sp>
        <p:nvSpPr>
          <p:cNvPr id="4" name="Foliennummernplatzhalter 3">
            <a:extLst>
              <a:ext uri="{FF2B5EF4-FFF2-40B4-BE49-F238E27FC236}">
                <a16:creationId xmlns:a16="http://schemas.microsoft.com/office/drawing/2014/main" id="{2F1C50FB-D9AB-9F17-D1FE-B96DF810E80C}"/>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7</a:t>
            </a:fld>
            <a:endParaRPr lang="de-DE" dirty="0"/>
          </a:p>
        </p:txBody>
      </p:sp>
    </p:spTree>
    <p:extLst>
      <p:ext uri="{BB962C8B-B14F-4D97-AF65-F5344CB8AC3E}">
        <p14:creationId xmlns:p14="http://schemas.microsoft.com/office/powerpoint/2010/main" val="2667201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CC2A9-3BFB-C76C-2184-0D71C66215B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D311131-970F-6A3F-2599-8D18BC5ED8B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03244EB-4A76-5AC8-51FA-F04806B1BEA3}"/>
              </a:ext>
            </a:extLst>
          </p:cNvPr>
          <p:cNvSpPr>
            <a:spLocks noGrp="1"/>
          </p:cNvSpPr>
          <p:nvPr>
            <p:ph type="body" idx="1"/>
          </p:nvPr>
        </p:nvSpPr>
        <p:spPr/>
        <p:txBody>
          <a:bodyPr rtlCol="0"/>
          <a:lstStyle>
            <a:defPPr>
              <a:defRPr lang="de-DE"/>
            </a:defPPr>
          </a:lstStyle>
          <a:p>
            <a:pPr rtl="0"/>
            <a:endParaRPr lang="de-DE" dirty="0"/>
          </a:p>
        </p:txBody>
      </p:sp>
      <p:sp>
        <p:nvSpPr>
          <p:cNvPr id="4" name="Foliennummernplatzhalter 3">
            <a:extLst>
              <a:ext uri="{FF2B5EF4-FFF2-40B4-BE49-F238E27FC236}">
                <a16:creationId xmlns:a16="http://schemas.microsoft.com/office/drawing/2014/main" id="{D2496445-9AE9-F2E4-F596-8F879FABE2D2}"/>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8</a:t>
            </a:fld>
            <a:endParaRPr lang="de-DE" dirty="0"/>
          </a:p>
        </p:txBody>
      </p:sp>
    </p:spTree>
    <p:extLst>
      <p:ext uri="{BB962C8B-B14F-4D97-AF65-F5344CB8AC3E}">
        <p14:creationId xmlns:p14="http://schemas.microsoft.com/office/powerpoint/2010/main" val="2700016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0DD7E-C70B-C792-405C-9AF229F55DE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A7F2985-0206-CF19-9445-31262A53019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48D0689-84D7-D41F-FB2B-F4946823811E}"/>
              </a:ext>
            </a:extLst>
          </p:cNvPr>
          <p:cNvSpPr>
            <a:spLocks noGrp="1"/>
          </p:cNvSpPr>
          <p:nvPr>
            <p:ph type="body" idx="1"/>
          </p:nvPr>
        </p:nvSpPr>
        <p:spPr/>
        <p:txBody>
          <a:bodyPr rtlCol="0"/>
          <a:lstStyle>
            <a:defPPr>
              <a:defRPr lang="de-DE"/>
            </a:defPPr>
          </a:lstStyle>
          <a:p>
            <a:pPr rtl="0"/>
            <a:r>
              <a:rPr lang="en-US" dirty="0"/>
              <a:t>So what were the results?</a:t>
            </a:r>
          </a:p>
          <a:p>
            <a:pPr rtl="0"/>
            <a:endParaRPr lang="en-US" dirty="0"/>
          </a:p>
          <a:p>
            <a:pPr rtl="0"/>
            <a:r>
              <a:rPr lang="en-US" dirty="0"/>
              <a:t>As you can see, the naive rounding technique resulted in a worse performing model. But using the GPTQ technique, we were able to gain back all the lost performance.</a:t>
            </a:r>
          </a:p>
          <a:p>
            <a:pPr rtl="0"/>
            <a:endParaRPr lang="de-DE" dirty="0"/>
          </a:p>
        </p:txBody>
      </p:sp>
      <p:sp>
        <p:nvSpPr>
          <p:cNvPr id="4" name="Foliennummernplatzhalter 3">
            <a:extLst>
              <a:ext uri="{FF2B5EF4-FFF2-40B4-BE49-F238E27FC236}">
                <a16:creationId xmlns:a16="http://schemas.microsoft.com/office/drawing/2014/main" id="{73F91AD7-D427-C7BE-CE38-2E04DB7E3115}"/>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9</a:t>
            </a:fld>
            <a:endParaRPr lang="de-DE" dirty="0"/>
          </a:p>
        </p:txBody>
      </p:sp>
    </p:spTree>
    <p:extLst>
      <p:ext uri="{BB962C8B-B14F-4D97-AF65-F5344CB8AC3E}">
        <p14:creationId xmlns:p14="http://schemas.microsoft.com/office/powerpoint/2010/main" val="3077483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3BA0F-5D2A-638D-61CF-5BA6EB3F06B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37A1B87-E5AD-8D54-6AA7-5C77A023EDC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45905E5-EE54-1192-646F-4408E3088B6A}"/>
              </a:ext>
            </a:extLst>
          </p:cNvPr>
          <p:cNvSpPr>
            <a:spLocks noGrp="1"/>
          </p:cNvSpPr>
          <p:nvPr>
            <p:ph type="body" idx="1"/>
          </p:nvPr>
        </p:nvSpPr>
        <p:spPr/>
        <p:txBody>
          <a:bodyPr rtlCol="0"/>
          <a:lstStyle>
            <a:defPPr>
              <a:defRPr lang="de-DE"/>
            </a:defPPr>
          </a:lstStyle>
          <a:p>
            <a:pPr rtl="0"/>
            <a:r>
              <a:rPr lang="en-US" dirty="0"/>
              <a:t>As you can also see, the quantized models are 90% smaller than the baseline model. So using GPTQ we were able to greatly reduce the model size without losing any performance.</a:t>
            </a:r>
          </a:p>
          <a:p>
            <a:pPr rtl="0"/>
            <a:endParaRPr lang="de-DE" dirty="0"/>
          </a:p>
        </p:txBody>
      </p:sp>
      <p:sp>
        <p:nvSpPr>
          <p:cNvPr id="4" name="Foliennummernplatzhalter 3">
            <a:extLst>
              <a:ext uri="{FF2B5EF4-FFF2-40B4-BE49-F238E27FC236}">
                <a16:creationId xmlns:a16="http://schemas.microsoft.com/office/drawing/2014/main" id="{B91F591C-EF7F-71C5-8B0D-495698AEB1A9}"/>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10</a:t>
            </a:fld>
            <a:endParaRPr lang="de-DE" dirty="0"/>
          </a:p>
        </p:txBody>
      </p:sp>
    </p:spTree>
    <p:extLst>
      <p:ext uri="{BB962C8B-B14F-4D97-AF65-F5344CB8AC3E}">
        <p14:creationId xmlns:p14="http://schemas.microsoft.com/office/powerpoint/2010/main" val="3333490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0DD98-EC67-5941-F66B-947543403A7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CC3EEB8-D2E1-6C35-19E4-883197FB282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F322F77-D707-82AE-00A0-3A1E0E3694F6}"/>
              </a:ext>
            </a:extLst>
          </p:cNvPr>
          <p:cNvSpPr>
            <a:spLocks noGrp="1"/>
          </p:cNvSpPr>
          <p:nvPr>
            <p:ph type="body" idx="1"/>
          </p:nvPr>
        </p:nvSpPr>
        <p:spPr/>
        <p:txBody>
          <a:bodyPr rtlCol="0"/>
          <a:lstStyle>
            <a:defPPr>
              <a:defRPr lang="de-DE"/>
            </a:defPPr>
          </a:lstStyle>
          <a:p>
            <a:pPr rtl="0"/>
            <a:r>
              <a:rPr lang="en-US" dirty="0"/>
              <a:t>Here is a small demo of the models responses given the prompt "There once was a big dog".</a:t>
            </a:r>
          </a:p>
          <a:p>
            <a:pPr rtl="0"/>
            <a:r>
              <a:rPr lang="en-US" dirty="0"/>
              <a:t>Clearly, 2-3 million parameters is not enough to generate high quality text, but the models are able to predict most words correctly and sometimes even predicted correct half sentences. But you might notice some slightly worse predictions from the naive quantized model. </a:t>
            </a:r>
          </a:p>
          <a:p>
            <a:pPr rtl="0"/>
            <a:endParaRPr lang="de-DE" dirty="0"/>
          </a:p>
        </p:txBody>
      </p:sp>
      <p:sp>
        <p:nvSpPr>
          <p:cNvPr id="4" name="Foliennummernplatzhalter 3">
            <a:extLst>
              <a:ext uri="{FF2B5EF4-FFF2-40B4-BE49-F238E27FC236}">
                <a16:creationId xmlns:a16="http://schemas.microsoft.com/office/drawing/2014/main" id="{97704620-C983-1307-2420-871CCD01092C}"/>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11</a:t>
            </a:fld>
            <a:endParaRPr lang="de-DE" dirty="0"/>
          </a:p>
        </p:txBody>
      </p:sp>
    </p:spTree>
    <p:extLst>
      <p:ext uri="{BB962C8B-B14F-4D97-AF65-F5344CB8AC3E}">
        <p14:creationId xmlns:p14="http://schemas.microsoft.com/office/powerpoint/2010/main" val="32231004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EABBA-17BF-EF46-11E8-E767BCF7511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DAA05F8-5523-1B33-B4A7-456985FB1D7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F998CF4-5D03-FE61-794E-386FCCF86BAF}"/>
              </a:ext>
            </a:extLst>
          </p:cNvPr>
          <p:cNvSpPr>
            <a:spLocks noGrp="1"/>
          </p:cNvSpPr>
          <p:nvPr>
            <p:ph type="body" idx="1"/>
          </p:nvPr>
        </p:nvSpPr>
        <p:spPr/>
        <p:txBody>
          <a:bodyPr rtlCol="0"/>
          <a:lstStyle>
            <a:defPPr>
              <a:defRPr lang="de-DE"/>
            </a:defPPr>
          </a:lstStyle>
          <a:p>
            <a:pPr rtl="0"/>
            <a:r>
              <a:rPr lang="en-US" dirty="0"/>
              <a:t>So what insights did I gain from this project?</a:t>
            </a:r>
          </a:p>
          <a:p>
            <a:pPr rtl="0"/>
            <a:endParaRPr lang="en-US" dirty="0"/>
          </a:p>
          <a:p>
            <a:pPr rtl="0"/>
            <a:r>
              <a:rPr lang="en-US" dirty="0"/>
              <a:t>Re-implementing an autoregressive transformer from scratch was quite difficult and also took quite some time. But it was a very valuable learning lesson and I can recommend this as an exercise to anyone wanting to deeply understand autoregressive transformers.</a:t>
            </a:r>
          </a:p>
          <a:p>
            <a:pPr rtl="0"/>
            <a:endParaRPr lang="de-DE" dirty="0"/>
          </a:p>
        </p:txBody>
      </p:sp>
      <p:sp>
        <p:nvSpPr>
          <p:cNvPr id="4" name="Foliennummernplatzhalter 3">
            <a:extLst>
              <a:ext uri="{FF2B5EF4-FFF2-40B4-BE49-F238E27FC236}">
                <a16:creationId xmlns:a16="http://schemas.microsoft.com/office/drawing/2014/main" id="{74769713-1668-6706-AE67-A9370B909346}"/>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12</a:t>
            </a:fld>
            <a:endParaRPr lang="de-DE" dirty="0"/>
          </a:p>
        </p:txBody>
      </p:sp>
    </p:spTree>
    <p:extLst>
      <p:ext uri="{BB962C8B-B14F-4D97-AF65-F5344CB8AC3E}">
        <p14:creationId xmlns:p14="http://schemas.microsoft.com/office/powerpoint/2010/main" val="2024027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97027-CC77-9716-9A56-681DEFB024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F036BB0-7DB1-0D88-A185-9BF938B06E5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8AB5672-E6DF-C308-0AC9-DC1CCB8A828B}"/>
              </a:ext>
            </a:extLst>
          </p:cNvPr>
          <p:cNvSpPr>
            <a:spLocks noGrp="1"/>
          </p:cNvSpPr>
          <p:nvPr>
            <p:ph type="body" idx="1"/>
          </p:nvPr>
        </p:nvSpPr>
        <p:spPr/>
        <p:txBody>
          <a:bodyPr rtlCol="0"/>
          <a:lstStyle>
            <a:defPPr>
              <a:defRPr lang="de-DE"/>
            </a:defPPr>
          </a:lstStyle>
          <a:p>
            <a:pPr rtl="0"/>
            <a:r>
              <a:rPr lang="en-US" dirty="0"/>
              <a:t>Training a 2-3 million parameter model on my tiny notebook GPU was also quite challenging. Since a single training run took 11 hours, I was not able to retrain it multiple times if I would have been unhappy with the results. So I had to do a few tiny experimental training runs to find good hyperparameters and training settings before doing the actual training run.</a:t>
            </a:r>
          </a:p>
          <a:p>
            <a:pPr rtl="0"/>
            <a:endParaRPr lang="en-US" dirty="0"/>
          </a:p>
          <a:p>
            <a:pPr rtl="0"/>
            <a:r>
              <a:rPr lang="en-US" dirty="0"/>
              <a:t>So this was another valuable learning lesson on how to manage and balance training runs when you can only afford a single actual training run.</a:t>
            </a:r>
          </a:p>
          <a:p>
            <a:pPr rtl="0"/>
            <a:endParaRPr lang="de-DE" dirty="0"/>
          </a:p>
        </p:txBody>
      </p:sp>
      <p:sp>
        <p:nvSpPr>
          <p:cNvPr id="4" name="Foliennummernplatzhalter 3">
            <a:extLst>
              <a:ext uri="{FF2B5EF4-FFF2-40B4-BE49-F238E27FC236}">
                <a16:creationId xmlns:a16="http://schemas.microsoft.com/office/drawing/2014/main" id="{C4968A91-9FB3-F16F-3D98-0DE7D41DFC6B}"/>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13</a:t>
            </a:fld>
            <a:endParaRPr lang="de-DE" dirty="0"/>
          </a:p>
        </p:txBody>
      </p:sp>
    </p:spTree>
    <p:extLst>
      <p:ext uri="{BB962C8B-B14F-4D97-AF65-F5344CB8AC3E}">
        <p14:creationId xmlns:p14="http://schemas.microsoft.com/office/powerpoint/2010/main" val="2463703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1B82-2A63-7A64-BB35-93B71AAF768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9ECE02E-B2C6-EA82-47F5-C82432D9437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14375F6-6158-5847-0987-4EBEA7697CFE}"/>
              </a:ext>
            </a:extLst>
          </p:cNvPr>
          <p:cNvSpPr>
            <a:spLocks noGrp="1"/>
          </p:cNvSpPr>
          <p:nvPr>
            <p:ph type="body" idx="1"/>
          </p:nvPr>
        </p:nvSpPr>
        <p:spPr/>
        <p:txBody>
          <a:bodyPr rtlCol="0"/>
          <a:lstStyle>
            <a:defPPr>
              <a:defRPr lang="de-DE"/>
            </a:defPPr>
          </a:lstStyle>
          <a:p>
            <a:pPr rtl="0"/>
            <a:r>
              <a:rPr lang="en-US" dirty="0"/>
              <a:t>Thank you for your attention.</a:t>
            </a:r>
            <a:endParaRPr lang="de-DE" dirty="0"/>
          </a:p>
        </p:txBody>
      </p:sp>
      <p:sp>
        <p:nvSpPr>
          <p:cNvPr id="4" name="Foliennummernplatzhalter 3">
            <a:extLst>
              <a:ext uri="{FF2B5EF4-FFF2-40B4-BE49-F238E27FC236}">
                <a16:creationId xmlns:a16="http://schemas.microsoft.com/office/drawing/2014/main" id="{6D94F027-5613-5349-7A04-E011CE8C7BCB}"/>
              </a:ext>
            </a:extLst>
          </p:cNvPr>
          <p:cNvSpPr>
            <a:spLocks noGrp="1"/>
          </p:cNvSpPr>
          <p:nvPr>
            <p:ph type="sldNum" sz="quarter" idx="5"/>
          </p:nvPr>
        </p:nvSpPr>
        <p:spPr/>
        <p:txBody>
          <a:bodyPr rtlCol="0"/>
          <a:lstStyle>
            <a:defPPr>
              <a:defRPr lang="de-DE"/>
            </a:defPPr>
          </a:lstStyle>
          <a:p>
            <a:pPr rtl="0"/>
            <a:fld id="{22289C57-55D7-40A4-A101-E74FAC7A092B}" type="slidenum">
              <a:rPr lang="de-DE" smtClean="0"/>
              <a:t>14</a:t>
            </a:fld>
            <a:endParaRPr lang="de-DE" dirty="0"/>
          </a:p>
        </p:txBody>
      </p:sp>
    </p:spTree>
    <p:extLst>
      <p:ext uri="{BB962C8B-B14F-4D97-AF65-F5344CB8AC3E}">
        <p14:creationId xmlns:p14="http://schemas.microsoft.com/office/powerpoint/2010/main" val="24092305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rtlCol="0" anchor="ctr">
            <a:noAutofit/>
          </a:bodyPr>
          <a:lstStyle>
            <a:lvl1pPr algn="l">
              <a:defRPr lang="de-DE" sz="3600" spc="150" baseline="0"/>
            </a:lvl1pPr>
          </a:lstStyle>
          <a:p>
            <a:pPr rtl="0"/>
            <a:r>
              <a:rPr lang="de-DE"/>
              <a:t>Titel durch Klicken hinzuzufügen</a:t>
            </a:r>
          </a:p>
        </p:txBody>
      </p:sp>
      <p:pic>
        <p:nvPicPr>
          <p:cNvPr id="8" name="Grafik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el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rtlCol="0" anchor="b">
            <a:normAutofit/>
          </a:bodyPr>
          <a:lstStyle>
            <a:lvl1pPr>
              <a:defRPr lang="de-DE" sz="2800" spc="150" baseline="0">
                <a:solidFill>
                  <a:schemeClr val="bg1"/>
                </a:solidFill>
              </a:defRPr>
            </a:lvl1pPr>
          </a:lstStyle>
          <a:p>
            <a:pPr rtl="0"/>
            <a:r>
              <a:rPr lang="de-DE"/>
              <a:t>Titel durch Klicken hinzuzufügen</a:t>
            </a:r>
          </a:p>
        </p:txBody>
      </p:sp>
      <p:sp>
        <p:nvSpPr>
          <p:cNvPr id="3" name="Inhaltsplatzhalt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rtlCol="0">
            <a:normAutofit/>
          </a:bodyPr>
          <a:lstStyle>
            <a:lvl1pPr marL="0" indent="0">
              <a:lnSpc>
                <a:spcPct val="140000"/>
              </a:lnSpc>
              <a:spcBef>
                <a:spcPts val="1000"/>
              </a:spcBef>
              <a:buNone/>
              <a:defRPr lang="de-DE" sz="1800">
                <a:solidFill>
                  <a:schemeClr val="bg1"/>
                </a:solidFill>
              </a:defRPr>
            </a:lvl1pPr>
            <a:lvl2pPr marL="457200" indent="0">
              <a:lnSpc>
                <a:spcPct val="140000"/>
              </a:lnSpc>
              <a:spcBef>
                <a:spcPts val="1000"/>
              </a:spcBef>
              <a:buNone/>
              <a:defRPr lang="de-DE" sz="1800">
                <a:solidFill>
                  <a:schemeClr val="bg1"/>
                </a:solidFill>
              </a:defRPr>
            </a:lvl2pPr>
            <a:lvl3pPr marL="914400" indent="0">
              <a:lnSpc>
                <a:spcPct val="140000"/>
              </a:lnSpc>
              <a:spcBef>
                <a:spcPts val="1000"/>
              </a:spcBef>
              <a:buNone/>
              <a:defRPr lang="de-DE" sz="1800">
                <a:solidFill>
                  <a:schemeClr val="bg1"/>
                </a:solidFill>
              </a:defRPr>
            </a:lvl3pPr>
            <a:lvl4pPr marL="1371600" indent="0">
              <a:lnSpc>
                <a:spcPct val="140000"/>
              </a:lnSpc>
              <a:spcBef>
                <a:spcPts val="1000"/>
              </a:spcBef>
              <a:buNone/>
              <a:defRPr lang="de-DE" sz="1800">
                <a:solidFill>
                  <a:schemeClr val="bg1"/>
                </a:solidFill>
              </a:defRPr>
            </a:lvl4pPr>
            <a:lvl5pPr marL="1828800" indent="0">
              <a:lnSpc>
                <a:spcPct val="140000"/>
              </a:lnSpc>
              <a:spcBef>
                <a:spcPts val="1000"/>
              </a:spcBef>
              <a:buNone/>
              <a:defRPr lang="de-DE" sz="1800">
                <a:solidFill>
                  <a:schemeClr val="bg1"/>
                </a:solidFill>
              </a:defRPr>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Fußzeilenplatzhalt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rtlCol="0"/>
          <a:lstStyle>
            <a:lvl1pPr algn="l">
              <a:defRPr lang="de-DE" sz="900"/>
            </a:lvl1pPr>
          </a:lstStyle>
          <a:p>
            <a:pPr rtl="0"/>
            <a:r>
              <a:rPr lang="de-DE"/>
              <a:t>PRÄSENTATIONSTITEL</a:t>
            </a:r>
          </a:p>
        </p:txBody>
      </p:sp>
      <p:sp>
        <p:nvSpPr>
          <p:cNvPr id="6" name="Foliennummernplatzhalt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schnittsumbruch 1">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rtlCol="0" anchor="b">
            <a:noAutofit/>
          </a:bodyPr>
          <a:lstStyle>
            <a:lvl1pPr algn="l">
              <a:defRPr lang="de-DE" sz="3600" spc="150" baseline="0">
                <a:solidFill>
                  <a:schemeClr val="tx1"/>
                </a:solidFill>
              </a:defRPr>
            </a:lvl1pPr>
          </a:lstStyle>
          <a:p>
            <a:pPr rtl="0"/>
            <a:r>
              <a:rPr lang="de-DE"/>
              <a:t>Titel durch Klicken hinzuzufügen</a:t>
            </a:r>
          </a:p>
        </p:txBody>
      </p:sp>
      <p:grpSp>
        <p:nvGrpSpPr>
          <p:cNvPr id="4" name="Gruppieren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Gerader Verbinde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Gerader Verbinde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bschnittsumbruch 2">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rtlCol="0" anchor="b">
            <a:noAutofit/>
          </a:bodyPr>
          <a:lstStyle>
            <a:lvl1pPr algn="l">
              <a:defRPr lang="de-DE" sz="3600" spc="150" baseline="0">
                <a:solidFill>
                  <a:schemeClr val="bg1"/>
                </a:solidFill>
              </a:defRPr>
            </a:lvl1pPr>
          </a:lstStyle>
          <a:p>
            <a:pPr rtl="0"/>
            <a:r>
              <a:rPr lang="de-DE"/>
              <a:t>Titel durch Klicken hinzuzufügen</a:t>
            </a:r>
          </a:p>
        </p:txBody>
      </p:sp>
      <p:cxnSp>
        <p:nvCxnSpPr>
          <p:cNvPr id="7" name="Gerader Verbinde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Bildplatzhalt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rtlCol="0">
            <a:normAutofit/>
          </a:bodyPr>
          <a:lstStyle>
            <a:lvl1pPr marL="0" indent="0">
              <a:buNone/>
              <a:defRPr lang="de-DE" sz="2000">
                <a:solidFill>
                  <a:schemeClr val="bg1"/>
                </a:solidFill>
              </a:defRPr>
            </a:lvl1pPr>
          </a:lstStyle>
          <a:p>
            <a:pPr rtl="0"/>
            <a:r>
              <a:rPr lang="de-DE"/>
              <a:t>Bild durch Klicken auf Symbol hinzufügen</a:t>
            </a:r>
            <a:endParaRPr lang="de-DE"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inführ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3" name="Inhaltsplatzhalt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rtlCol="0">
            <a:normAutofit/>
          </a:bodyPr>
          <a:lstStyle>
            <a:lvl1pPr marL="0" indent="0">
              <a:lnSpc>
                <a:spcPct val="100000"/>
              </a:lnSpc>
              <a:buFont typeface="Arial" panose="020B0604020202020204" pitchFamily="34" charset="0"/>
              <a:buNone/>
              <a:defRPr lang="de-DE" sz="1800" b="1"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43000"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grpSp>
        <p:nvGrpSpPr>
          <p:cNvPr id="9" name="Gruppieren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Gerader Verbinde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Gerader Verbinde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ußzeilenplatzhalt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rtlCol="0"/>
          <a:lstStyle>
            <a:lvl1pPr algn="l">
              <a:defRPr lang="de-DE" sz="900"/>
            </a:lvl1pPr>
          </a:lstStyle>
          <a:p>
            <a:pPr rtl="0"/>
            <a:r>
              <a:rPr lang="de-DE"/>
              <a:t>PRÄSENTATIONSTITEL</a:t>
            </a:r>
          </a:p>
        </p:txBody>
      </p:sp>
      <p:sp>
        <p:nvSpPr>
          <p:cNvPr id="16" name="Foliennummernplatzhalt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bschnittsumbruch 3">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rtlCol="0" anchor="b">
            <a:noAutofit/>
          </a:bodyPr>
          <a:lstStyle>
            <a:lvl1pPr algn="l">
              <a:defRPr lang="de-DE" sz="3600" spc="150" baseline="0">
                <a:solidFill>
                  <a:schemeClr val="bg1"/>
                </a:solidFill>
              </a:defRPr>
            </a:lvl1pPr>
          </a:lstStyle>
          <a:p>
            <a:pPr rtl="0"/>
            <a:r>
              <a:rPr lang="de-DE"/>
              <a:t>Titel durch Klicken hinzuzufügen</a:t>
            </a:r>
          </a:p>
        </p:txBody>
      </p:sp>
      <p:pic>
        <p:nvPicPr>
          <p:cNvPr id="4" name="Grafik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1">
    <p:bg>
      <p:bgPr>
        <a:solidFill>
          <a:schemeClr val="accent1"/>
        </a:solidFill>
        <a:effectLst/>
      </p:bgPr>
    </p:bg>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rtlCol="0" anchor="t">
            <a:norm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7" name="Inhaltsplatzhalt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43000"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rtlCol="0" anchor="t">
            <a:norm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9" name="Inhaltsplatzhalt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43000"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3" name="Fußzeilenplatzhalt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rtlCol="0"/>
          <a:lstStyle>
            <a:lvl1pPr algn="l">
              <a:defRPr lang="de-DE" sz="900"/>
            </a:lvl1pPr>
          </a:lstStyle>
          <a:p>
            <a:pPr rtl="0"/>
            <a:r>
              <a:rPr lang="de-DE"/>
              <a:t>PRÄSENTATIONSTITEL</a:t>
            </a:r>
          </a:p>
        </p:txBody>
      </p:sp>
      <p:sp>
        <p:nvSpPr>
          <p:cNvPr id="14" name="Foliennummernplatzhalt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2">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grpSp>
        <p:nvGrpSpPr>
          <p:cNvPr id="10" name="Gruppieren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Gerader Verbinde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platzhalt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rtlCol="0" anchor="t">
            <a:norm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5" name="Inhaltsplatzhalt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rtlCol="0">
            <a:normAutofit/>
          </a:bodyPr>
          <a:lstStyle>
            <a:lvl1pPr marL="283464" indent="-283464">
              <a:lnSpc>
                <a:spcPct val="100000"/>
              </a:lnSpc>
              <a:buFont typeface="+mj-lt"/>
              <a:buAutoNum type="arabicPeriod"/>
              <a:defRPr lang="de-DE" sz="1800" b="0" spc="50" baseline="0"/>
            </a:lvl1pPr>
            <a:lvl2pPr marL="566928" indent="-342900">
              <a:lnSpc>
                <a:spcPct val="100000"/>
              </a:lnSpc>
              <a:spcBef>
                <a:spcPts val="1000"/>
              </a:spcBef>
              <a:buFont typeface="+mj-lt"/>
              <a:buAutoNum type="alphaLcPeriod"/>
              <a:defRPr lang="de-DE" sz="1800" spc="50" baseline="0"/>
            </a:lvl2pPr>
            <a:lvl3pPr marL="850392" indent="-342900">
              <a:lnSpc>
                <a:spcPct val="100000"/>
              </a:lnSpc>
              <a:spcBef>
                <a:spcPts val="1000"/>
              </a:spcBef>
              <a:buFont typeface="+mj-lt"/>
              <a:buAutoNum type="arabicParenR"/>
              <a:defRPr lang="de-DE" sz="1800" spc="50" baseline="0"/>
            </a:lvl3pPr>
            <a:lvl4pPr marL="1042416" indent="-342900">
              <a:lnSpc>
                <a:spcPct val="100000"/>
              </a:lnSpc>
              <a:spcBef>
                <a:spcPts val="1000"/>
              </a:spcBef>
              <a:buFont typeface="+mj-lt"/>
              <a:buAutoNum type="alphaLcParenR"/>
              <a:defRPr lang="de-DE" sz="1800" spc="50" baseline="0"/>
            </a:lvl4pPr>
            <a:lvl5pPr marL="1074420" indent="-400050">
              <a:lnSpc>
                <a:spcPct val="100000"/>
              </a:lnSpc>
              <a:spcBef>
                <a:spcPts val="1000"/>
              </a:spcBef>
              <a:buFont typeface="+mj-lt"/>
              <a:buAutoNum type="romanLcPeriod"/>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p:txBody>
      </p:sp>
      <p:sp>
        <p:nvSpPr>
          <p:cNvPr id="17" name="Textplatzhalt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rtlCol="0" anchor="t">
            <a:norm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3" name="Inhaltsplatzhalt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43000"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19" name="Fußzeilenplatzhalt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rtlCol="0"/>
          <a:lstStyle>
            <a:lvl1pPr algn="l">
              <a:defRPr lang="de-DE" sz="900"/>
            </a:lvl1pPr>
          </a:lstStyle>
          <a:p>
            <a:pPr rtl="0"/>
            <a:r>
              <a:rPr lang="de-DE"/>
              <a:t>PRÄSENTATIONSTITEL</a:t>
            </a:r>
          </a:p>
        </p:txBody>
      </p:sp>
      <p:sp>
        <p:nvSpPr>
          <p:cNvPr id="20" name="Foliennummernplatzhalt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usammenfassung">
    <p:spTree>
      <p:nvGrpSpPr>
        <p:cNvPr id="1" name=""/>
        <p:cNvGrpSpPr/>
        <p:nvPr/>
      </p:nvGrpSpPr>
      <p:grpSpPr>
        <a:xfrm>
          <a:off x="0" y="0"/>
          <a:ext cx="0" cy="0"/>
          <a:chOff x="0" y="0"/>
          <a:chExt cx="0" cy="0"/>
        </a:xfrm>
      </p:grpSpPr>
      <p:cxnSp>
        <p:nvCxnSpPr>
          <p:cNvPr id="11" name="Gerader Verbinde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13" name="Bildplatzhalt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rtlCol="0">
            <a:normAutofit/>
          </a:bodyPr>
          <a:lstStyle>
            <a:lvl1pPr marL="0" indent="0" algn="l">
              <a:buNone/>
              <a:defRPr lang="de-DE" sz="2000">
                <a:solidFill>
                  <a:schemeClr val="tx1"/>
                </a:solidFill>
              </a:defRPr>
            </a:lvl1pPr>
          </a:lstStyle>
          <a:p>
            <a:pPr rtl="0"/>
            <a:r>
              <a:rPr lang="de-DE"/>
              <a:t>Bild durch Klicken auf Symbol hinzufügen</a:t>
            </a:r>
            <a:endParaRPr lang="de-DE" dirty="0"/>
          </a:p>
        </p:txBody>
      </p:sp>
      <p:sp>
        <p:nvSpPr>
          <p:cNvPr id="4" name="Fußzeilenplatzhalt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rtlCol="0"/>
          <a:lstStyle>
            <a:lvl1pPr algn="l">
              <a:defRPr lang="de-DE" sz="900"/>
            </a:lvl1pPr>
          </a:lstStyle>
          <a:p>
            <a:pPr rtl="0"/>
            <a:r>
              <a:rPr lang="de-DE"/>
              <a:t>PRÄSENTATIONSTITEL</a:t>
            </a:r>
          </a:p>
        </p:txBody>
      </p:sp>
      <p:sp>
        <p:nvSpPr>
          <p:cNvPr id="5" name="Foliennummernplatzhalt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
        <p:nvSpPr>
          <p:cNvPr id="8" name="Inhaltsplatzhalt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52144"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elle 1">
    <p:bg>
      <p:bgRef idx="1001">
        <a:schemeClr val="bg1"/>
      </p:bgRef>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rtlCol="0">
            <a:normAutofit/>
          </a:bodyPr>
          <a:lstStyle>
            <a:lvl1pPr algn="l">
              <a:defRPr lang="de-DE" sz="2400" kern="1200" spc="150" baseline="0" dirty="0">
                <a:solidFill>
                  <a:schemeClr val="tx1"/>
                </a:solidFill>
                <a:latin typeface="+mj-lt"/>
                <a:ea typeface="+mj-ea"/>
                <a:cs typeface="+mj-cs"/>
              </a:defRPr>
            </a:lvl1pPr>
          </a:lstStyle>
          <a:p>
            <a:pPr rtl="0"/>
            <a:r>
              <a:rPr lang="de-DE"/>
              <a:t>Titel durch Klicken hinzuzufügen</a:t>
            </a:r>
          </a:p>
        </p:txBody>
      </p:sp>
      <p:sp>
        <p:nvSpPr>
          <p:cNvPr id="3" name="Inhaltsplatzhalt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52144"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8" name="Tabellenplatzhalt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rtlCol="0">
            <a:normAutofit/>
          </a:bodyPr>
          <a:lstStyle>
            <a:lvl1pPr marL="0" indent="0" algn="ctr">
              <a:buNone/>
              <a:defRPr lang="de-DE" sz="2000"/>
            </a:lvl1pPr>
          </a:lstStyle>
          <a:p>
            <a:pPr rtl="0"/>
            <a:r>
              <a:rPr lang="de-DE"/>
              <a:t>Tabelle durch Klicken auf Symbol hinzufügen</a:t>
            </a:r>
            <a:endParaRPr lang="de-DE" dirty="0"/>
          </a:p>
        </p:txBody>
      </p:sp>
      <p:sp>
        <p:nvSpPr>
          <p:cNvPr id="10" name="Fußzeilenplatzhalt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rtlCol="0"/>
          <a:lstStyle>
            <a:lvl1pPr algn="l">
              <a:defRPr lang="de-DE" sz="900"/>
            </a:lvl1pPr>
          </a:lstStyle>
          <a:p>
            <a:pPr rtl="0"/>
            <a:r>
              <a:rPr lang="de-DE"/>
              <a:t>PRÄSENTATIONSTITEL</a:t>
            </a:r>
          </a:p>
        </p:txBody>
      </p:sp>
      <p:sp>
        <p:nvSpPr>
          <p:cNvPr id="11" name="Foliennummernplatzhalt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grpSp>
        <p:nvGrpSpPr>
          <p:cNvPr id="14" name="Gruppieren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Gerader Verbinde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Zwei Inhalte">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rtlCol="0" anchor="b">
            <a:normAutofit/>
          </a:bodyPr>
          <a:lstStyle>
            <a:lvl1pP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3" name="Textplatzhalt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rtlCol="0" anchor="ctr">
            <a:no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4" name="Inhaltsplatzhalt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rtlCol="0">
            <a:normAutofit/>
          </a:bodyPr>
          <a:lstStyle>
            <a:lvl1pPr marL="285750" indent="-285750">
              <a:lnSpc>
                <a:spcPct val="100000"/>
              </a:lnSpc>
              <a:buFont typeface="Arial" panose="020B0604020202020204" pitchFamily="34" charset="0"/>
              <a:buChar char="•"/>
              <a:defRPr lang="de-DE" sz="1800" spc="50" baseline="0"/>
            </a:lvl1pPr>
            <a:lvl2pPr marL="742950" indent="-285750">
              <a:lnSpc>
                <a:spcPct val="100000"/>
              </a:lnSpc>
              <a:buFont typeface="Arial" panose="020B0604020202020204" pitchFamily="34" charset="0"/>
              <a:buChar char="•"/>
              <a:defRPr lang="de-DE" sz="1800" spc="50" baseline="0"/>
            </a:lvl2pPr>
            <a:lvl3pPr marL="1200150" indent="-285750">
              <a:lnSpc>
                <a:spcPct val="100000"/>
              </a:lnSpc>
              <a:buFont typeface="Arial" panose="020B0604020202020204" pitchFamily="34" charset="0"/>
              <a:buChar char="•"/>
              <a:defRPr lang="de-DE" sz="1800" spc="50" baseline="0"/>
            </a:lvl3pPr>
            <a:lvl4pPr marL="1657350" indent="-285750">
              <a:lnSpc>
                <a:spcPct val="100000"/>
              </a:lnSpc>
              <a:buFont typeface="Arial" panose="020B0604020202020204" pitchFamily="34" charset="0"/>
              <a:buChar char="•"/>
              <a:defRPr lang="de-DE" sz="1800" spc="50" baseline="0"/>
            </a:lvl4pPr>
            <a:lvl5pPr marL="2114550" indent="-285750">
              <a:lnSpc>
                <a:spcPct val="100000"/>
              </a:lnSpc>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5" name="Textplatzhalt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rtlCol="0" anchor="ctr">
            <a:noAutofit/>
          </a:bodyPr>
          <a:lstStyle>
            <a:lvl1pPr marL="0" indent="0">
              <a:buNone/>
              <a:defRPr lang="de-DE" sz="1800" b="1" kern="1200" spc="50" baseline="0" dirty="0" smtClean="0">
                <a:solidFill>
                  <a:schemeClr val="tx1"/>
                </a:solidFill>
                <a:latin typeface="+mj-lt"/>
                <a:ea typeface="+mj-ea"/>
                <a:cs typeface="+mj-cs"/>
              </a:defRPr>
            </a:lvl1pPr>
            <a:lvl2pPr marL="457200" indent="0">
              <a:buNone/>
              <a:defRPr lang="de-DE" sz="2000" b="1"/>
            </a:lvl2pPr>
            <a:lvl3pPr marL="914400" indent="0">
              <a:buNone/>
              <a:defRPr lang="de-DE" sz="1800" b="1"/>
            </a:lvl3pPr>
            <a:lvl4pPr marL="1371600" indent="0">
              <a:buNone/>
              <a:defRPr lang="de-DE" sz="1600" b="1"/>
            </a:lvl4pPr>
            <a:lvl5pPr marL="1828800" indent="0">
              <a:buNone/>
              <a:defRPr lang="de-DE" sz="1600" b="1"/>
            </a:lvl5pPr>
            <a:lvl6pPr marL="2286000" indent="0">
              <a:buNone/>
              <a:defRPr lang="de-DE" sz="1600" b="1"/>
            </a:lvl6pPr>
            <a:lvl7pPr marL="2743200" indent="0">
              <a:buNone/>
              <a:defRPr lang="de-DE" sz="1600" b="1"/>
            </a:lvl7pPr>
            <a:lvl8pPr marL="3200400" indent="0">
              <a:buNone/>
              <a:defRPr lang="de-DE" sz="1600" b="1"/>
            </a:lvl8pPr>
            <a:lvl9pPr marL="3657600" indent="0">
              <a:buNone/>
              <a:defRPr lang="de-DE" sz="1600" b="1"/>
            </a:lvl9pPr>
          </a:lstStyle>
          <a:p>
            <a:pPr lvl="0" rtl="0"/>
            <a:r>
              <a:rPr lang="de-DE"/>
              <a:t>Klicken Sie, um Text hinzuzufügen.</a:t>
            </a:r>
          </a:p>
        </p:txBody>
      </p:sp>
      <p:sp>
        <p:nvSpPr>
          <p:cNvPr id="7" name="Inhaltsplatzhalt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rtlCol="0">
            <a:normAutofit/>
          </a:bodyPr>
          <a:lstStyle>
            <a:lvl1pPr marL="0" indent="0">
              <a:lnSpc>
                <a:spcPct val="100000"/>
              </a:lnSpc>
              <a:buFont typeface="Arial" panose="020B0604020202020204" pitchFamily="34" charset="0"/>
              <a:buNone/>
              <a:defRPr lang="de-DE" sz="1800" b="0" spc="50" baseline="0"/>
            </a:lvl1pPr>
            <a:lvl2pPr marL="283464" indent="-285750">
              <a:lnSpc>
                <a:spcPct val="100000"/>
              </a:lnSpc>
              <a:spcBef>
                <a:spcPts val="1000"/>
              </a:spcBef>
              <a:buFont typeface="Arial" panose="020B0604020202020204" pitchFamily="34" charset="0"/>
              <a:buChar char="•"/>
              <a:defRPr lang="de-DE" sz="1800" spc="50" baseline="0"/>
            </a:lvl2pPr>
            <a:lvl3pPr marL="566928" indent="-285750">
              <a:lnSpc>
                <a:spcPct val="100000"/>
              </a:lnSpc>
              <a:spcBef>
                <a:spcPts val="1000"/>
              </a:spcBef>
              <a:buFont typeface="Arial" panose="020B0604020202020204" pitchFamily="34" charset="0"/>
              <a:buChar char="•"/>
              <a:defRPr lang="de-DE" sz="1800" spc="50" baseline="0"/>
            </a:lvl3pPr>
            <a:lvl4pPr marL="859536" indent="-285750">
              <a:lnSpc>
                <a:spcPct val="100000"/>
              </a:lnSpc>
              <a:spcBef>
                <a:spcPts val="1000"/>
              </a:spcBef>
              <a:buFont typeface="Arial" panose="020B0604020202020204" pitchFamily="34" charset="0"/>
              <a:buChar char="•"/>
              <a:defRPr lang="de-DE" sz="1800" spc="50" baseline="0"/>
            </a:lvl4pPr>
            <a:lvl5pPr marL="1152144" indent="-285750">
              <a:lnSpc>
                <a:spcPct val="100000"/>
              </a:lnSpc>
              <a:spcBef>
                <a:spcPts val="1000"/>
              </a:spcBef>
              <a:buFont typeface="Arial" panose="020B0604020202020204" pitchFamily="34" charset="0"/>
              <a:buChar char="•"/>
              <a:defRPr lang="de-DE" sz="1800" spc="50" baseline="0"/>
            </a:lvl5pPr>
          </a:lstStyle>
          <a:p>
            <a:pPr lvl="0" rtl="0"/>
            <a:r>
              <a:rPr lang="de-DE"/>
              <a:t>Klicken, um Inhalt hinzuzufügen</a:t>
            </a:r>
          </a:p>
          <a:p>
            <a:pPr lvl="1" rtl="0"/>
            <a:r>
              <a:rPr lang="de-DE"/>
              <a:t>Zweite Ebene</a:t>
            </a:r>
          </a:p>
          <a:p>
            <a:pPr lvl="2" rtl="0"/>
            <a:r>
              <a:rPr lang="de-DE"/>
              <a:t>Dritte Ebene</a:t>
            </a:r>
          </a:p>
          <a:p>
            <a:pPr lvl="3" rtl="0"/>
            <a:r>
              <a:rPr lang="de-DE"/>
              <a:t>Vierte Ebene</a:t>
            </a:r>
          </a:p>
          <a:p>
            <a:pPr lvl="4" rtl="0"/>
            <a:r>
              <a:rPr lang="de-DE"/>
              <a:t>Fünfte Ebene</a:t>
            </a:r>
          </a:p>
        </p:txBody>
      </p:sp>
      <p:sp>
        <p:nvSpPr>
          <p:cNvPr id="8" name="Fußzeilenplatzhalt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rtlCol="0"/>
          <a:lstStyle>
            <a:lvl1pPr algn="l">
              <a:defRPr lang="de-DE" sz="900"/>
            </a:lvl1pPr>
          </a:lstStyle>
          <a:p>
            <a:pPr rtl="0"/>
            <a:r>
              <a:rPr lang="de-DE"/>
              <a:t>PRÄSENTATIONSTITEL</a:t>
            </a:r>
          </a:p>
        </p:txBody>
      </p:sp>
      <p:sp>
        <p:nvSpPr>
          <p:cNvPr id="9" name="Foliennummernplatzhalt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rtlCol="0"/>
          <a:lstStyle>
            <a:lvl1pPr>
              <a:defRPr lang="de-DE" sz="900"/>
            </a:lvl1pPr>
          </a:lstStyle>
          <a:p>
            <a:pPr rtl="0"/>
            <a:fld id="{A49DFD55-3C28-40EF-9E31-A92D2E4017FF}" type="slidenum">
              <a:rPr lang="de-DE" smtClean="0"/>
              <a:pPr/>
              <a:t>‹Nr.›</a:t>
            </a:fld>
            <a:endParaRPr lang="de-DE" dirty="0"/>
          </a:p>
        </p:txBody>
      </p:sp>
      <p:pic>
        <p:nvPicPr>
          <p:cNvPr id="13" name="Grafik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elle 2">
    <p:bg>
      <p:bgRef idx="1001">
        <a:schemeClr val="bg1"/>
      </p:bgRef>
    </p:bg>
    <p:spTree>
      <p:nvGrpSpPr>
        <p:cNvPr id="1" name=""/>
        <p:cNvGrpSpPr/>
        <p:nvPr/>
      </p:nvGrpSpPr>
      <p:grpSpPr>
        <a:xfrm>
          <a:off x="0" y="0"/>
          <a:ext cx="0" cy="0"/>
          <a:chOff x="0" y="0"/>
          <a:chExt cx="0" cy="0"/>
        </a:xfrm>
      </p:grpSpPr>
      <p:grpSp>
        <p:nvGrpSpPr>
          <p:cNvPr id="10" name="Gruppieren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Gerader Verbinde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el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rtlCol="0" anchor="b">
            <a:normAutofit/>
          </a:bodyPr>
          <a:lstStyle>
            <a:lvl1pPr algn="ctr">
              <a:defRPr lang="de-DE" sz="2800" kern="1200" spc="150" baseline="0" dirty="0">
                <a:solidFill>
                  <a:schemeClr val="tx1"/>
                </a:solidFill>
                <a:latin typeface="+mj-lt"/>
                <a:ea typeface="+mj-ea"/>
                <a:cs typeface="+mj-cs"/>
              </a:defRPr>
            </a:lvl1pPr>
          </a:lstStyle>
          <a:p>
            <a:pPr rtl="0"/>
            <a:r>
              <a:rPr lang="de-DE"/>
              <a:t>Titel durch Klicken hinzuzufügen</a:t>
            </a:r>
          </a:p>
        </p:txBody>
      </p:sp>
      <p:sp>
        <p:nvSpPr>
          <p:cNvPr id="8" name="Tabellenplatzhalt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rtlCol="0">
            <a:normAutofit/>
          </a:bodyPr>
          <a:lstStyle>
            <a:lvl1pPr marL="0" indent="0" algn="ctr">
              <a:buNone/>
              <a:defRPr lang="de-DE" sz="2000"/>
            </a:lvl1pPr>
          </a:lstStyle>
          <a:p>
            <a:pPr rtl="0"/>
            <a:r>
              <a:rPr lang="de-DE"/>
              <a:t>Tabelle durch Klicken auf Symbol hinzufügen</a:t>
            </a:r>
            <a:endParaRPr lang="de-DE" dirty="0"/>
          </a:p>
        </p:txBody>
      </p:sp>
      <p:sp>
        <p:nvSpPr>
          <p:cNvPr id="6" name="Fußzeilenplatzhalt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rtlCol="0"/>
          <a:lstStyle>
            <a:lvl1pPr algn="l">
              <a:defRPr lang="de-DE" sz="900"/>
            </a:lvl1pPr>
          </a:lstStyle>
          <a:p>
            <a:pPr rtl="0"/>
            <a:r>
              <a:rPr lang="de-DE"/>
              <a:t>PRÄSENTATIONSTITEL</a:t>
            </a:r>
          </a:p>
        </p:txBody>
      </p:sp>
      <p:sp>
        <p:nvSpPr>
          <p:cNvPr id="7" name="Foliennummernplatzhalt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chlussbemerkung">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rtlCol="0" anchor="b">
            <a:noAutofit/>
          </a:bodyPr>
          <a:lstStyle>
            <a:lvl1pPr algn="l">
              <a:defRPr lang="de-DE" sz="3600" spc="150" baseline="0">
                <a:solidFill>
                  <a:schemeClr val="bg1"/>
                </a:solidFill>
              </a:defRPr>
            </a:lvl1pPr>
          </a:lstStyle>
          <a:p>
            <a:pPr rtl="0"/>
            <a:r>
              <a:rPr lang="de-DE"/>
              <a:t>KLICKEN SIE, um einen Titel hinzuzufügen.</a:t>
            </a:r>
          </a:p>
        </p:txBody>
      </p:sp>
      <p:sp>
        <p:nvSpPr>
          <p:cNvPr id="3" name="Untertitel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rtlCol="0">
            <a:normAutofit/>
          </a:bodyPr>
          <a:lstStyle>
            <a:lvl1pPr marL="0" indent="0" algn="l">
              <a:lnSpc>
                <a:spcPct val="150000"/>
              </a:lnSpc>
              <a:buNone/>
              <a:defRPr lang="de-DE" sz="1800" spc="50" baseline="0">
                <a:solidFill>
                  <a:schemeClr val="bg1"/>
                </a:solidFill>
              </a:defRPr>
            </a:lvl1pPr>
            <a:lvl2pPr marL="457200" indent="0" algn="ctr">
              <a:buNone/>
              <a:defRPr lang="de-DE" sz="2000"/>
            </a:lvl2pPr>
            <a:lvl3pPr marL="914400" indent="0" algn="ctr">
              <a:buNone/>
              <a:defRPr lang="de-DE" sz="1800"/>
            </a:lvl3pPr>
            <a:lvl4pPr marL="1371600" indent="0" algn="ctr">
              <a:buNone/>
              <a:defRPr lang="de-DE" sz="1600"/>
            </a:lvl4pPr>
            <a:lvl5pPr marL="1828800" indent="0" algn="ctr">
              <a:buNone/>
              <a:defRPr lang="de-DE" sz="1600"/>
            </a:lvl5pPr>
            <a:lvl6pPr marL="2286000" indent="0" algn="ctr">
              <a:buNone/>
              <a:defRPr lang="de-DE" sz="1600"/>
            </a:lvl6pPr>
            <a:lvl7pPr marL="2743200" indent="0" algn="ctr">
              <a:buNone/>
              <a:defRPr lang="de-DE" sz="1600"/>
            </a:lvl7pPr>
            <a:lvl8pPr marL="3200400" indent="0" algn="ctr">
              <a:buNone/>
              <a:defRPr lang="de-DE" sz="1600"/>
            </a:lvl8pPr>
            <a:lvl9pPr marL="3657600" indent="0" algn="ctr">
              <a:buNone/>
              <a:defRPr lang="de-DE" sz="1600"/>
            </a:lvl9pPr>
          </a:lstStyle>
          <a:p>
            <a:pPr rtl="0"/>
            <a:r>
              <a:rPr lang="de-DE"/>
              <a:t>Untertitel durch Klicken hinzufügen</a:t>
            </a:r>
          </a:p>
        </p:txBody>
      </p:sp>
      <p:pic>
        <p:nvPicPr>
          <p:cNvPr id="6" name="Grafik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ußzeilenplatzhalt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rtlCol="0"/>
          <a:lstStyle>
            <a:lvl1pPr algn="l">
              <a:defRPr lang="de-DE" sz="900"/>
            </a:lvl1pPr>
          </a:lstStyle>
          <a:p>
            <a:pPr rtl="0"/>
            <a:r>
              <a:rPr lang="de-DE"/>
              <a:t>PRÄSENTATIONSTITEL</a:t>
            </a:r>
          </a:p>
        </p:txBody>
      </p:sp>
      <p:sp>
        <p:nvSpPr>
          <p:cNvPr id="11" name="Foliennummernplatzhalt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rtlCol="0"/>
          <a:lstStyle>
            <a:lvl1pPr>
              <a:defRPr lang="de-DE" sz="900"/>
            </a:lvl1pPr>
          </a:lstStyle>
          <a:p>
            <a:pPr rtl="0"/>
            <a:fld id="{A49DFD55-3C28-40EF-9E31-A92D2E4017FF}" type="slidenum">
              <a:rPr lang="de-DE" smtClean="0"/>
              <a:pPr/>
              <a:t>‹Nr.›</a:t>
            </a:fld>
            <a:endParaRPr lang="de-DE"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de-DE"/>
            </a:defPPr>
          </a:lstStyle>
          <a:p>
            <a:pPr rtl="0"/>
            <a:r>
              <a:rPr lang="de-DE"/>
              <a:t>Titelmasterformat durch Klicken bearbeiten</a:t>
            </a:r>
          </a:p>
        </p:txBody>
      </p:sp>
      <p:sp>
        <p:nvSpPr>
          <p:cNvPr id="3" name="Textplatzhalt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de-DE"/>
            </a:defPPr>
          </a:lstStyle>
          <a:p>
            <a:pPr lvl="0" rtl="0"/>
            <a:r>
              <a:rPr lang="de-DE"/>
              <a:t>Textmasterformat durch Klicken bearbeiten</a:t>
            </a:r>
          </a:p>
          <a:p>
            <a:pPr lvl="1" rtl="0"/>
            <a:r>
              <a:rPr lang="de-DE"/>
              <a:t>Zweite Ebene</a:t>
            </a:r>
          </a:p>
          <a:p>
            <a:pPr lvl="2" rtl="0"/>
            <a:r>
              <a:rPr lang="de-DE"/>
              <a:t>Dritte Ebene</a:t>
            </a:r>
          </a:p>
          <a:p>
            <a:pPr lvl="3" rtl="0"/>
            <a:r>
              <a:rPr lang="de-DE"/>
              <a:t>Vierte Ebene</a:t>
            </a:r>
          </a:p>
          <a:p>
            <a:pPr lvl="4" rtl="0"/>
            <a:r>
              <a:rPr lang="de-DE"/>
              <a:t>Fünfte Ebene</a:t>
            </a:r>
          </a:p>
        </p:txBody>
      </p:sp>
      <p:sp>
        <p:nvSpPr>
          <p:cNvPr id="4" name="Datumsplatzhalt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de-DE" sz="1200">
                <a:solidFill>
                  <a:schemeClr val="tx1">
                    <a:tint val="75000"/>
                  </a:schemeClr>
                </a:solidFill>
              </a:defRPr>
            </a:lvl1pPr>
          </a:lstStyle>
          <a:p>
            <a:pPr rtl="0"/>
            <a:endParaRPr lang="de-DE" dirty="0"/>
          </a:p>
        </p:txBody>
      </p:sp>
      <p:sp>
        <p:nvSpPr>
          <p:cNvPr id="5" name="Fußzeilenplatzhalt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de-DE" sz="1200">
                <a:solidFill>
                  <a:schemeClr val="tx1">
                    <a:tint val="75000"/>
                  </a:schemeClr>
                </a:solidFill>
              </a:defRPr>
            </a:lvl1pPr>
          </a:lstStyle>
          <a:p>
            <a:pPr rtl="0"/>
            <a:r>
              <a:rPr lang="de-DE"/>
              <a:t>PRÄSENTATIONSTITEL</a:t>
            </a:r>
          </a:p>
        </p:txBody>
      </p:sp>
      <p:sp>
        <p:nvSpPr>
          <p:cNvPr id="6" name="Foliennummernplatzhalt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de-DE" sz="1200">
                <a:solidFill>
                  <a:schemeClr val="tx1">
                    <a:tint val="75000"/>
                  </a:schemeClr>
                </a:solidFill>
              </a:defRPr>
            </a:lvl1pPr>
          </a:lstStyle>
          <a:p>
            <a:pPr rtl="0"/>
            <a:fld id="{A49DFD55-3C28-40EF-9E31-A92D2E4017FF}" type="slidenum">
              <a:rPr lang="de-DE" smtClean="0"/>
              <a:t>‹Nr.›</a:t>
            </a:fld>
            <a:endParaRPr lang="de-DE"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lang="de-DE"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de-DE"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p:bodyStyle>
    <p:otherStyle>
      <a:defPPr>
        <a:defRPr lang="de-DE"/>
      </a:defPPr>
      <a:lvl1pPr marL="0" algn="l" defTabSz="914400" rtl="0" eaLnBrk="1" latinLnBrk="0" hangingPunct="1">
        <a:defRPr lang="de-DE" sz="1800" kern="1200">
          <a:solidFill>
            <a:schemeClr val="tx1"/>
          </a:solidFill>
          <a:latin typeface="+mn-lt"/>
          <a:ea typeface="+mn-ea"/>
          <a:cs typeface="+mn-cs"/>
        </a:defRPr>
      </a:lvl1pPr>
      <a:lvl2pPr marL="457200" algn="l" defTabSz="914400" rtl="0" eaLnBrk="1" latinLnBrk="0" hangingPunct="1">
        <a:defRPr lang="de-DE" sz="1800" kern="1200">
          <a:solidFill>
            <a:schemeClr val="tx1"/>
          </a:solidFill>
          <a:latin typeface="+mn-lt"/>
          <a:ea typeface="+mn-ea"/>
          <a:cs typeface="+mn-cs"/>
        </a:defRPr>
      </a:lvl2pPr>
      <a:lvl3pPr marL="914400" algn="l" defTabSz="914400" rtl="0" eaLnBrk="1" latinLnBrk="0" hangingPunct="1">
        <a:defRPr lang="de-DE" sz="1800" kern="1200">
          <a:solidFill>
            <a:schemeClr val="tx1"/>
          </a:solidFill>
          <a:latin typeface="+mn-lt"/>
          <a:ea typeface="+mn-ea"/>
          <a:cs typeface="+mn-cs"/>
        </a:defRPr>
      </a:lvl3pPr>
      <a:lvl4pPr marL="1371600" algn="l" defTabSz="914400" rtl="0" eaLnBrk="1" latinLnBrk="0" hangingPunct="1">
        <a:defRPr lang="de-DE" sz="1800" kern="1200">
          <a:solidFill>
            <a:schemeClr val="tx1"/>
          </a:solidFill>
          <a:latin typeface="+mn-lt"/>
          <a:ea typeface="+mn-ea"/>
          <a:cs typeface="+mn-cs"/>
        </a:defRPr>
      </a:lvl4pPr>
      <a:lvl5pPr marL="1828800" algn="l" defTabSz="914400" rtl="0" eaLnBrk="1" latinLnBrk="0" hangingPunct="1">
        <a:defRPr lang="de-DE" sz="1800" kern="1200">
          <a:solidFill>
            <a:schemeClr val="tx1"/>
          </a:solidFill>
          <a:latin typeface="+mn-lt"/>
          <a:ea typeface="+mn-ea"/>
          <a:cs typeface="+mn-cs"/>
        </a:defRPr>
      </a:lvl5pPr>
      <a:lvl6pPr marL="2286000" algn="l" defTabSz="914400" rtl="0" eaLnBrk="1" latinLnBrk="0" hangingPunct="1">
        <a:defRPr lang="de-DE" sz="1800" kern="1200">
          <a:solidFill>
            <a:schemeClr val="tx1"/>
          </a:solidFill>
          <a:latin typeface="+mn-lt"/>
          <a:ea typeface="+mn-ea"/>
          <a:cs typeface="+mn-cs"/>
        </a:defRPr>
      </a:lvl6pPr>
      <a:lvl7pPr marL="2743200" algn="l" defTabSz="914400" rtl="0" eaLnBrk="1" latinLnBrk="0" hangingPunct="1">
        <a:defRPr lang="de-DE" sz="1800" kern="1200">
          <a:solidFill>
            <a:schemeClr val="tx1"/>
          </a:solidFill>
          <a:latin typeface="+mn-lt"/>
          <a:ea typeface="+mn-ea"/>
          <a:cs typeface="+mn-cs"/>
        </a:defRPr>
      </a:lvl7pPr>
      <a:lvl8pPr marL="3200400" algn="l" defTabSz="914400" rtl="0" eaLnBrk="1" latinLnBrk="0" hangingPunct="1">
        <a:defRPr lang="de-DE" sz="1800" kern="1200">
          <a:solidFill>
            <a:schemeClr val="tx1"/>
          </a:solidFill>
          <a:latin typeface="+mn-lt"/>
          <a:ea typeface="+mn-ea"/>
          <a:cs typeface="+mn-cs"/>
        </a:defRPr>
      </a:lvl8pPr>
      <a:lvl9pPr marL="3657600" algn="l" defTabSz="914400" rtl="0" eaLnBrk="1" latinLnBrk="0" hangingPunct="1">
        <a:defRPr lang="de-DE"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28DBD1-DB29-D44F-FD5A-3071BB37EF37}"/>
              </a:ext>
            </a:extLst>
          </p:cNvPr>
          <p:cNvSpPr>
            <a:spLocks noGrp="1"/>
          </p:cNvSpPr>
          <p:nvPr>
            <p:ph type="ctrTitle"/>
          </p:nvPr>
        </p:nvSpPr>
        <p:spPr>
          <a:xfrm>
            <a:off x="6362371" y="1314805"/>
            <a:ext cx="5829629" cy="1786411"/>
          </a:xfrm>
        </p:spPr>
        <p:txBody>
          <a:bodyPr rtlCol="0"/>
          <a:lstStyle>
            <a:defPPr>
              <a:defRPr lang="de-DE"/>
            </a:defPPr>
          </a:lstStyle>
          <a:p>
            <a:r>
              <a:rPr lang="en-US" sz="4000" cap="none" dirty="0" err="1"/>
              <a:t>NanoGPTQ</a:t>
            </a:r>
            <a:endParaRPr lang="de-DE" sz="4000" cap="none" dirty="0"/>
          </a:p>
        </p:txBody>
      </p:sp>
      <p:sp>
        <p:nvSpPr>
          <p:cNvPr id="3" name="Titel 1">
            <a:extLst>
              <a:ext uri="{FF2B5EF4-FFF2-40B4-BE49-F238E27FC236}">
                <a16:creationId xmlns:a16="http://schemas.microsoft.com/office/drawing/2014/main" id="{8644439D-5DB2-2C7C-3B57-563F8AED7912}"/>
              </a:ext>
            </a:extLst>
          </p:cNvPr>
          <p:cNvSpPr txBox="1">
            <a:spLocks/>
          </p:cNvSpPr>
          <p:nvPr/>
        </p:nvSpPr>
        <p:spPr>
          <a:xfrm>
            <a:off x="6743877" y="1964627"/>
            <a:ext cx="5829628" cy="1464373"/>
          </a:xfrm>
          <a:prstGeom prst="rect">
            <a:avLst/>
          </a:prstGeom>
        </p:spPr>
        <p:txBody>
          <a:bodyPr vert="horz" lIns="91440" tIns="45720" rIns="91440" bIns="45720" rtlCol="0" anchor="b">
            <a:noAutofit/>
          </a:bodyPr>
          <a:lstStyle>
            <a:defPPr>
              <a:defRPr lang="de-DE"/>
            </a:defPPr>
            <a:lvl1pPr algn="l" defTabSz="914400" rtl="0" eaLnBrk="1" latinLnBrk="0" hangingPunct="1">
              <a:lnSpc>
                <a:spcPct val="90000"/>
              </a:lnSpc>
              <a:spcBef>
                <a:spcPct val="0"/>
              </a:spcBef>
              <a:buNone/>
              <a:defRPr lang="de-DE" sz="3600" kern="1200" cap="all" spc="150" baseline="0">
                <a:solidFill>
                  <a:schemeClr val="tx1"/>
                </a:solidFill>
                <a:latin typeface="+mj-lt"/>
                <a:ea typeface="+mj-ea"/>
                <a:cs typeface="+mj-cs"/>
              </a:defRPr>
            </a:lvl1pPr>
          </a:lstStyle>
          <a:p>
            <a:r>
              <a:rPr lang="en-US" sz="2000" cap="none" dirty="0">
                <a:latin typeface="+mn-lt"/>
              </a:rPr>
              <a:t>Philipp Sepin</a:t>
            </a:r>
          </a:p>
        </p:txBody>
      </p:sp>
      <p:sp>
        <p:nvSpPr>
          <p:cNvPr id="5" name="Titel 1">
            <a:extLst>
              <a:ext uri="{FF2B5EF4-FFF2-40B4-BE49-F238E27FC236}">
                <a16:creationId xmlns:a16="http://schemas.microsoft.com/office/drawing/2014/main" id="{3102BE87-7C24-E071-8EE3-D245BBFB5639}"/>
              </a:ext>
            </a:extLst>
          </p:cNvPr>
          <p:cNvSpPr txBox="1">
            <a:spLocks/>
          </p:cNvSpPr>
          <p:nvPr/>
        </p:nvSpPr>
        <p:spPr>
          <a:xfrm>
            <a:off x="1613826" y="3933132"/>
            <a:ext cx="6721748" cy="1786411"/>
          </a:xfrm>
          <a:prstGeom prst="rect">
            <a:avLst/>
          </a:prstGeom>
        </p:spPr>
        <p:txBody>
          <a:bodyPr vert="horz" lIns="91440" tIns="45720" rIns="91440" bIns="45720" rtlCol="0" anchor="b">
            <a:noAutofit/>
          </a:bodyPr>
          <a:lstStyle>
            <a:defPPr>
              <a:defRPr lang="de-DE"/>
            </a:defPPr>
            <a:lvl1pPr algn="l" defTabSz="914400" rtl="0" eaLnBrk="1" latinLnBrk="0" hangingPunct="1">
              <a:lnSpc>
                <a:spcPct val="90000"/>
              </a:lnSpc>
              <a:spcBef>
                <a:spcPct val="0"/>
              </a:spcBef>
              <a:buNone/>
              <a:defRPr lang="de-DE" sz="3600" kern="1200" cap="all" spc="150" baseline="0">
                <a:solidFill>
                  <a:schemeClr val="tx1"/>
                </a:solidFill>
                <a:latin typeface="+mj-lt"/>
                <a:ea typeface="+mj-ea"/>
                <a:cs typeface="+mj-cs"/>
              </a:defRPr>
            </a:lvl1pPr>
          </a:lstStyle>
          <a:p>
            <a:endParaRPr lang="en-US" sz="4000" cap="none" dirty="0">
              <a:latin typeface="+mn-lt"/>
            </a:endParaRPr>
          </a:p>
        </p:txBody>
      </p:sp>
      <p:sp>
        <p:nvSpPr>
          <p:cNvPr id="6" name="PB">
            <a:extLst>
              <a:ext uri="{FF2B5EF4-FFF2-40B4-BE49-F238E27FC236}">
                <a16:creationId xmlns:a16="http://schemas.microsoft.com/office/drawing/2014/main" id="{E7DE1416-8021-C133-4482-41F2E72A1274}"/>
              </a:ext>
            </a:extLst>
          </p:cNvPr>
          <p:cNvSpPr/>
          <p:nvPr/>
        </p:nvSpPr>
        <p:spPr>
          <a:xfrm>
            <a:off x="0" y="6756400"/>
            <a:ext cx="870857"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608796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80629-6081-7BA0-16DB-4E135CE415EF}"/>
            </a:ext>
          </a:extLst>
        </p:cNvPr>
        <p:cNvGrpSpPr/>
        <p:nvPr/>
      </p:nvGrpSpPr>
      <p:grpSpPr>
        <a:xfrm>
          <a:off x="0" y="0"/>
          <a:ext cx="0" cy="0"/>
          <a:chOff x="0" y="0"/>
          <a:chExt cx="0" cy="0"/>
        </a:xfrm>
      </p:grpSpPr>
      <p:sp>
        <p:nvSpPr>
          <p:cNvPr id="17" name="Titel 1">
            <a:extLst>
              <a:ext uri="{FF2B5EF4-FFF2-40B4-BE49-F238E27FC236}">
                <a16:creationId xmlns:a16="http://schemas.microsoft.com/office/drawing/2014/main" id="{0527FCC3-6E87-E068-BC23-233F85DFE990}"/>
              </a:ext>
            </a:extLst>
          </p:cNvPr>
          <p:cNvSpPr>
            <a:spLocks noGrp="1"/>
          </p:cNvSpPr>
          <p:nvPr>
            <p:ph type="title"/>
          </p:nvPr>
        </p:nvSpPr>
        <p:spPr>
          <a:xfrm>
            <a:off x="492203" y="1113109"/>
            <a:ext cx="5133392" cy="653321"/>
          </a:xfrm>
        </p:spPr>
        <p:txBody>
          <a:bodyPr rtlCol="0" anchor="b"/>
          <a:lstStyle>
            <a:defPPr>
              <a:defRPr lang="de-DE"/>
            </a:defPPr>
          </a:lstStyle>
          <a:p>
            <a:pPr rtl="0"/>
            <a:r>
              <a:rPr lang="de-DE" dirty="0"/>
              <a:t>Large Language Models</a:t>
            </a:r>
          </a:p>
        </p:txBody>
      </p:sp>
      <p:sp>
        <p:nvSpPr>
          <p:cNvPr id="20" name="Inhaltsplatzhalter 3">
            <a:extLst>
              <a:ext uri="{FF2B5EF4-FFF2-40B4-BE49-F238E27FC236}">
                <a16:creationId xmlns:a16="http://schemas.microsoft.com/office/drawing/2014/main" id="{F00FC5B2-ACF4-097A-2742-D78B9AD35C81}"/>
              </a:ext>
            </a:extLst>
          </p:cNvPr>
          <p:cNvSpPr>
            <a:spLocks noGrp="1"/>
          </p:cNvSpPr>
          <p:nvPr>
            <p:ph sz="half" idx="2"/>
          </p:nvPr>
        </p:nvSpPr>
        <p:spPr>
          <a:xfrm>
            <a:off x="492203" y="1743450"/>
            <a:ext cx="9031062" cy="2408301"/>
          </a:xfrm>
        </p:spPr>
        <p:txBody>
          <a:bodyPr rtlCol="0">
            <a:noAutofit/>
          </a:bodyPr>
          <a:lstStyle>
            <a:defPPr>
              <a:defRPr lang="de-DE"/>
            </a:defPPr>
          </a:lstStyle>
          <a:p>
            <a:pPr rtl="0"/>
            <a:r>
              <a:rPr lang="de-DE" sz="2400" dirty="0"/>
              <a:t>Very powerful but </a:t>
            </a:r>
            <a:r>
              <a:rPr lang="de-DE" sz="2400" dirty="0" err="1"/>
              <a:t>very</a:t>
            </a:r>
            <a:r>
              <a:rPr lang="de-DE" sz="2400" dirty="0"/>
              <a:t> large</a:t>
            </a:r>
          </a:p>
          <a:p>
            <a:pPr rtl="0"/>
            <a:r>
              <a:rPr lang="de-DE" sz="2400" dirty="0"/>
              <a:t>GPT-3 </a:t>
            </a:r>
            <a:r>
              <a:rPr lang="de-DE" sz="2400" dirty="0" err="1"/>
              <a:t>has</a:t>
            </a:r>
            <a:r>
              <a:rPr lang="de-DE" sz="2400" dirty="0"/>
              <a:t> 175 </a:t>
            </a:r>
            <a:r>
              <a:rPr lang="de-DE" sz="2400" dirty="0" err="1"/>
              <a:t>billion</a:t>
            </a:r>
            <a:r>
              <a:rPr lang="de-DE" sz="2400" dirty="0"/>
              <a:t> </a:t>
            </a:r>
            <a:r>
              <a:rPr lang="de-DE" sz="2400" dirty="0" err="1"/>
              <a:t>weights</a:t>
            </a:r>
            <a:endParaRPr lang="de-DE" sz="2400" dirty="0"/>
          </a:p>
        </p:txBody>
      </p:sp>
      <p:pic>
        <p:nvPicPr>
          <p:cNvPr id="1026" name="Picture 2" descr="NVIDIA H100 PCIe 80GB GPU Card">
            <a:extLst>
              <a:ext uri="{FF2B5EF4-FFF2-40B4-BE49-F238E27FC236}">
                <a16:creationId xmlns:a16="http://schemas.microsoft.com/office/drawing/2014/main" id="{682FA777-7F80-1F9B-0A14-C1E0ED2FEB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2387" y="4810628"/>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NVIDIA H100 PCIe 80GB GPU Card">
            <a:extLst>
              <a:ext uri="{FF2B5EF4-FFF2-40B4-BE49-F238E27FC236}">
                <a16:creationId xmlns:a16="http://schemas.microsoft.com/office/drawing/2014/main" id="{5DFE8747-9F8F-2E9D-14CE-FF70A557CA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3460" y="4700747"/>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VIDIA H100 PCIe 80GB GPU Card">
            <a:extLst>
              <a:ext uri="{FF2B5EF4-FFF2-40B4-BE49-F238E27FC236}">
                <a16:creationId xmlns:a16="http://schemas.microsoft.com/office/drawing/2014/main" id="{96FF179B-9E39-2150-23B8-14F13945AD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9579" y="4590866"/>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NVIDIA H100 PCIe 80GB GPU Card">
            <a:extLst>
              <a:ext uri="{FF2B5EF4-FFF2-40B4-BE49-F238E27FC236}">
                <a16:creationId xmlns:a16="http://schemas.microsoft.com/office/drawing/2014/main" id="{E30249BA-BB2C-38A4-AC94-6CFF77EB56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8035" y="4426249"/>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NVIDIA H100 PCIe 80GB GPU Card">
            <a:extLst>
              <a:ext uri="{FF2B5EF4-FFF2-40B4-BE49-F238E27FC236}">
                <a16:creationId xmlns:a16="http://schemas.microsoft.com/office/drawing/2014/main" id="{CF05E9DA-F0E7-97AB-E34A-A50721CCE0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1222" y="4316368"/>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NVIDIA H100 PCIe 80GB GPU Card">
            <a:extLst>
              <a:ext uri="{FF2B5EF4-FFF2-40B4-BE49-F238E27FC236}">
                <a16:creationId xmlns:a16="http://schemas.microsoft.com/office/drawing/2014/main" id="{1A3274F0-1853-7A09-D4E8-A7ECC2DAA5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409" y="4151751"/>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VIDIA H100 PCIe 80GB GPU Card">
            <a:extLst>
              <a:ext uri="{FF2B5EF4-FFF2-40B4-BE49-F238E27FC236}">
                <a16:creationId xmlns:a16="http://schemas.microsoft.com/office/drawing/2014/main" id="{21EF084F-67A8-F71F-D5C6-41FD45778D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7596" y="3953897"/>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VIDIA H100 PCIe 80GB GPU Card">
            <a:extLst>
              <a:ext uri="{FF2B5EF4-FFF2-40B4-BE49-F238E27FC236}">
                <a16:creationId xmlns:a16="http://schemas.microsoft.com/office/drawing/2014/main" id="{4936CB23-59DE-36A0-90B3-048C8C32E4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7003" y="3844016"/>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VIDIA H100 PCIe 80GB GPU Card">
            <a:extLst>
              <a:ext uri="{FF2B5EF4-FFF2-40B4-BE49-F238E27FC236}">
                <a16:creationId xmlns:a16="http://schemas.microsoft.com/office/drawing/2014/main" id="{8CC87116-92A8-69AD-36DF-814716F21B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4129" y="3646162"/>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xpensive Vs Cheap Icons - Free SVG &amp; PNG Expensive Vs Cheap Images - Noun  Project">
            <a:extLst>
              <a:ext uri="{FF2B5EF4-FFF2-40B4-BE49-F238E27FC236}">
                <a16:creationId xmlns:a16="http://schemas.microsoft.com/office/drawing/2014/main" id="{F12D18A9-8223-E56A-477B-C7E2DAD2978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2876"/>
          <a:stretch>
            <a:fillRect/>
          </a:stretch>
        </p:blipFill>
        <p:spPr bwMode="auto">
          <a:xfrm>
            <a:off x="1423273" y="2757019"/>
            <a:ext cx="2298117" cy="4876800"/>
          </a:xfrm>
          <a:prstGeom prst="rect">
            <a:avLst/>
          </a:prstGeom>
          <a:noFill/>
          <a:extLst>
            <a:ext uri="{909E8E84-426E-40DD-AFC4-6F175D3DCCD1}">
              <a14:hiddenFill xmlns:a14="http://schemas.microsoft.com/office/drawing/2010/main">
                <a:solidFill>
                  <a:srgbClr val="FFFFFF"/>
                </a:solidFill>
              </a14:hiddenFill>
            </a:ext>
          </a:extLst>
        </p:spPr>
      </p:pic>
      <p:sp>
        <p:nvSpPr>
          <p:cNvPr id="3" name="PB">
            <a:extLst>
              <a:ext uri="{FF2B5EF4-FFF2-40B4-BE49-F238E27FC236}">
                <a16:creationId xmlns:a16="http://schemas.microsoft.com/office/drawing/2014/main" id="{63369C76-955D-0B72-DD83-244D2017FC93}"/>
              </a:ext>
            </a:extLst>
          </p:cNvPr>
          <p:cNvSpPr/>
          <p:nvPr/>
        </p:nvSpPr>
        <p:spPr>
          <a:xfrm>
            <a:off x="0" y="6756400"/>
            <a:ext cx="1741714"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30673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5D194-2D61-3611-7C0D-19FA45D588F1}"/>
            </a:ext>
          </a:extLst>
        </p:cNvPr>
        <p:cNvGrpSpPr/>
        <p:nvPr/>
      </p:nvGrpSpPr>
      <p:grpSpPr>
        <a:xfrm>
          <a:off x="0" y="0"/>
          <a:ext cx="0" cy="0"/>
          <a:chOff x="0" y="0"/>
          <a:chExt cx="0" cy="0"/>
        </a:xfrm>
      </p:grpSpPr>
      <p:sp>
        <p:nvSpPr>
          <p:cNvPr id="17" name="Titel 1">
            <a:extLst>
              <a:ext uri="{FF2B5EF4-FFF2-40B4-BE49-F238E27FC236}">
                <a16:creationId xmlns:a16="http://schemas.microsoft.com/office/drawing/2014/main" id="{0C1296F9-3FE5-A4A4-461C-CB80CB3B268A}"/>
              </a:ext>
            </a:extLst>
          </p:cNvPr>
          <p:cNvSpPr>
            <a:spLocks noGrp="1"/>
          </p:cNvSpPr>
          <p:nvPr>
            <p:ph type="title"/>
          </p:nvPr>
        </p:nvSpPr>
        <p:spPr>
          <a:xfrm>
            <a:off x="492203" y="1113109"/>
            <a:ext cx="5133392" cy="653321"/>
          </a:xfrm>
        </p:spPr>
        <p:txBody>
          <a:bodyPr rtlCol="0" anchor="b"/>
          <a:lstStyle>
            <a:defPPr>
              <a:defRPr lang="de-DE"/>
            </a:defPPr>
          </a:lstStyle>
          <a:p>
            <a:pPr rtl="0"/>
            <a:r>
              <a:rPr lang="de-DE" dirty="0"/>
              <a:t>Large Language Models</a:t>
            </a:r>
          </a:p>
        </p:txBody>
      </p:sp>
      <p:sp>
        <p:nvSpPr>
          <p:cNvPr id="20" name="Inhaltsplatzhalter 3">
            <a:extLst>
              <a:ext uri="{FF2B5EF4-FFF2-40B4-BE49-F238E27FC236}">
                <a16:creationId xmlns:a16="http://schemas.microsoft.com/office/drawing/2014/main" id="{D1C5A23A-52BC-D148-A554-F9B95082C6C8}"/>
              </a:ext>
            </a:extLst>
          </p:cNvPr>
          <p:cNvSpPr>
            <a:spLocks noGrp="1"/>
          </p:cNvSpPr>
          <p:nvPr>
            <p:ph sz="half" idx="2"/>
          </p:nvPr>
        </p:nvSpPr>
        <p:spPr>
          <a:xfrm>
            <a:off x="492203" y="1743450"/>
            <a:ext cx="9031062" cy="2408301"/>
          </a:xfrm>
        </p:spPr>
        <p:txBody>
          <a:bodyPr rtlCol="0">
            <a:noAutofit/>
          </a:bodyPr>
          <a:lstStyle>
            <a:defPPr>
              <a:defRPr lang="de-DE"/>
            </a:defPPr>
          </a:lstStyle>
          <a:p>
            <a:pPr rtl="0"/>
            <a:r>
              <a:rPr lang="de-DE" sz="2400" dirty="0"/>
              <a:t>Very powerful but </a:t>
            </a:r>
            <a:r>
              <a:rPr lang="de-DE" sz="2400" dirty="0" err="1"/>
              <a:t>very</a:t>
            </a:r>
            <a:r>
              <a:rPr lang="de-DE" sz="2400" dirty="0"/>
              <a:t> large</a:t>
            </a:r>
          </a:p>
          <a:p>
            <a:pPr rtl="0"/>
            <a:r>
              <a:rPr lang="de-DE" sz="2400" dirty="0"/>
              <a:t>GPT-3 </a:t>
            </a:r>
            <a:r>
              <a:rPr lang="de-DE" sz="2400" dirty="0" err="1"/>
              <a:t>has</a:t>
            </a:r>
            <a:r>
              <a:rPr lang="de-DE" sz="2400" dirty="0"/>
              <a:t> 175 </a:t>
            </a:r>
            <a:r>
              <a:rPr lang="de-DE" sz="2400" dirty="0" err="1"/>
              <a:t>billion</a:t>
            </a:r>
            <a:r>
              <a:rPr lang="de-DE" sz="2400" dirty="0"/>
              <a:t> </a:t>
            </a:r>
            <a:r>
              <a:rPr lang="de-DE" sz="2400" dirty="0" err="1"/>
              <a:t>weights</a:t>
            </a:r>
            <a:endParaRPr lang="de-DE" sz="2400" dirty="0"/>
          </a:p>
          <a:p>
            <a:pPr rtl="0"/>
            <a:r>
              <a:rPr lang="de-DE" sz="2400" dirty="0"/>
              <a:t>Takes </a:t>
            </a:r>
            <a:r>
              <a:rPr lang="de-DE" sz="2400" dirty="0" err="1"/>
              <a:t>up</a:t>
            </a:r>
            <a:r>
              <a:rPr lang="de-DE" sz="2400" dirty="0"/>
              <a:t> </a:t>
            </a:r>
            <a:r>
              <a:rPr lang="de-DE" sz="2400" dirty="0" err="1"/>
              <a:t>around</a:t>
            </a:r>
            <a:r>
              <a:rPr lang="de-DE" sz="2400" dirty="0"/>
              <a:t> 700 GB in GPU </a:t>
            </a:r>
            <a:r>
              <a:rPr lang="de-DE" sz="2400" dirty="0" err="1"/>
              <a:t>memory</a:t>
            </a:r>
            <a:r>
              <a:rPr lang="de-DE" sz="2400" dirty="0"/>
              <a:t> </a:t>
            </a:r>
            <a:r>
              <a:rPr lang="de-DE" sz="2400" dirty="0" err="1"/>
              <a:t>with</a:t>
            </a:r>
            <a:r>
              <a:rPr lang="de-DE" sz="2400" dirty="0"/>
              <a:t> float32 </a:t>
            </a:r>
            <a:r>
              <a:rPr lang="de-DE" sz="2400" dirty="0" err="1"/>
              <a:t>weights</a:t>
            </a:r>
            <a:endParaRPr lang="de-DE" sz="2400" dirty="0"/>
          </a:p>
          <a:p>
            <a:pPr rtl="0"/>
            <a:r>
              <a:rPr lang="de-DE" sz="2400" dirty="0"/>
              <a:t>9 H100 GPUs </a:t>
            </a:r>
            <a:r>
              <a:rPr lang="de-DE" sz="2400" dirty="0" err="1"/>
              <a:t>needed</a:t>
            </a:r>
            <a:endParaRPr lang="de-DE" sz="2400" dirty="0"/>
          </a:p>
        </p:txBody>
      </p:sp>
      <p:pic>
        <p:nvPicPr>
          <p:cNvPr id="1026" name="Picture 2" descr="NVIDIA H100 PCIe 80GB GPU Card">
            <a:extLst>
              <a:ext uri="{FF2B5EF4-FFF2-40B4-BE49-F238E27FC236}">
                <a16:creationId xmlns:a16="http://schemas.microsoft.com/office/drawing/2014/main" id="{EDA88140-1D15-37AB-1614-3D31716255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22387" y="4810628"/>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NVIDIA H100 PCIe 80GB GPU Card">
            <a:extLst>
              <a:ext uri="{FF2B5EF4-FFF2-40B4-BE49-F238E27FC236}">
                <a16:creationId xmlns:a16="http://schemas.microsoft.com/office/drawing/2014/main" id="{F9F14A70-D6BE-F54A-E96A-5EAD508C28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3460" y="4700747"/>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VIDIA H100 PCIe 80GB GPU Card">
            <a:extLst>
              <a:ext uri="{FF2B5EF4-FFF2-40B4-BE49-F238E27FC236}">
                <a16:creationId xmlns:a16="http://schemas.microsoft.com/office/drawing/2014/main" id="{5435267A-6F54-DEDD-897C-460743A38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9579" y="4590866"/>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NVIDIA H100 PCIe 80GB GPU Card">
            <a:extLst>
              <a:ext uri="{FF2B5EF4-FFF2-40B4-BE49-F238E27FC236}">
                <a16:creationId xmlns:a16="http://schemas.microsoft.com/office/drawing/2014/main" id="{A73AFBA0-C36E-E6BE-2FA2-F0BEBCC5CE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8035" y="4426249"/>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NVIDIA H100 PCIe 80GB GPU Card">
            <a:extLst>
              <a:ext uri="{FF2B5EF4-FFF2-40B4-BE49-F238E27FC236}">
                <a16:creationId xmlns:a16="http://schemas.microsoft.com/office/drawing/2014/main" id="{0DCFD95B-7820-BD7A-56B7-474855F0B8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1222" y="4316368"/>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NVIDIA H100 PCIe 80GB GPU Card">
            <a:extLst>
              <a:ext uri="{FF2B5EF4-FFF2-40B4-BE49-F238E27FC236}">
                <a16:creationId xmlns:a16="http://schemas.microsoft.com/office/drawing/2014/main" id="{3A0E0541-AA0E-DBA2-B397-FCE56D3DD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409" y="4151751"/>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NVIDIA H100 PCIe 80GB GPU Card">
            <a:extLst>
              <a:ext uri="{FF2B5EF4-FFF2-40B4-BE49-F238E27FC236}">
                <a16:creationId xmlns:a16="http://schemas.microsoft.com/office/drawing/2014/main" id="{E4905CEC-B5F1-B806-B46E-3CAD54D53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7596" y="3953897"/>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NVIDIA H100 PCIe 80GB GPU Card">
            <a:extLst>
              <a:ext uri="{FF2B5EF4-FFF2-40B4-BE49-F238E27FC236}">
                <a16:creationId xmlns:a16="http://schemas.microsoft.com/office/drawing/2014/main" id="{4B605CF5-EDBE-3721-465A-78E3890A6C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77003" y="3844016"/>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NVIDIA H100 PCIe 80GB GPU Card">
            <a:extLst>
              <a:ext uri="{FF2B5EF4-FFF2-40B4-BE49-F238E27FC236}">
                <a16:creationId xmlns:a16="http://schemas.microsoft.com/office/drawing/2014/main" id="{72A2E69F-7F10-1402-384A-BF8F5CB85C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4129" y="3646162"/>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xpensive Vs Cheap Icons - Free SVG &amp; PNG Expensive Vs Cheap Images - Noun  Project">
            <a:extLst>
              <a:ext uri="{FF2B5EF4-FFF2-40B4-BE49-F238E27FC236}">
                <a16:creationId xmlns:a16="http://schemas.microsoft.com/office/drawing/2014/main" id="{41349778-5A51-09FE-7CAD-738EDBE529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2876"/>
          <a:stretch>
            <a:fillRect/>
          </a:stretch>
        </p:blipFill>
        <p:spPr bwMode="auto">
          <a:xfrm>
            <a:off x="1423273" y="2757019"/>
            <a:ext cx="2298117" cy="4876800"/>
          </a:xfrm>
          <a:prstGeom prst="rect">
            <a:avLst/>
          </a:prstGeom>
          <a:noFill/>
          <a:extLst>
            <a:ext uri="{909E8E84-426E-40DD-AFC4-6F175D3DCCD1}">
              <a14:hiddenFill xmlns:a14="http://schemas.microsoft.com/office/drawing/2010/main">
                <a:solidFill>
                  <a:srgbClr val="FFFFFF"/>
                </a:solidFill>
              </a14:hiddenFill>
            </a:ext>
          </a:extLst>
        </p:spPr>
      </p:pic>
      <p:sp>
        <p:nvSpPr>
          <p:cNvPr id="3" name="PB">
            <a:extLst>
              <a:ext uri="{FF2B5EF4-FFF2-40B4-BE49-F238E27FC236}">
                <a16:creationId xmlns:a16="http://schemas.microsoft.com/office/drawing/2014/main" id="{71EB2C73-AECC-EC86-3C46-86B57E81C85D}"/>
              </a:ext>
            </a:extLst>
          </p:cNvPr>
          <p:cNvSpPr/>
          <p:nvPr/>
        </p:nvSpPr>
        <p:spPr>
          <a:xfrm>
            <a:off x="0" y="6756400"/>
            <a:ext cx="2612571"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41663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EF3B8-003B-DF75-E642-FB4BAA63EF3A}"/>
            </a:ext>
          </a:extLst>
        </p:cNvPr>
        <p:cNvGrpSpPr/>
        <p:nvPr/>
      </p:nvGrpSpPr>
      <p:grpSpPr>
        <a:xfrm>
          <a:off x="0" y="0"/>
          <a:ext cx="0" cy="0"/>
          <a:chOff x="0" y="0"/>
          <a:chExt cx="0" cy="0"/>
        </a:xfrm>
      </p:grpSpPr>
      <p:sp>
        <p:nvSpPr>
          <p:cNvPr id="16" name="Titel 1">
            <a:extLst>
              <a:ext uri="{FF2B5EF4-FFF2-40B4-BE49-F238E27FC236}">
                <a16:creationId xmlns:a16="http://schemas.microsoft.com/office/drawing/2014/main" id="{7598A771-EBE2-0503-A6A1-C4E9F95DE7AF}"/>
              </a:ext>
            </a:extLst>
          </p:cNvPr>
          <p:cNvSpPr>
            <a:spLocks noGrp="1"/>
          </p:cNvSpPr>
          <p:nvPr>
            <p:ph type="title"/>
          </p:nvPr>
        </p:nvSpPr>
        <p:spPr>
          <a:xfrm>
            <a:off x="2699083" y="352103"/>
            <a:ext cx="6878217" cy="653321"/>
          </a:xfrm>
        </p:spPr>
        <p:txBody>
          <a:bodyPr rtlCol="0" anchor="b">
            <a:noAutofit/>
          </a:bodyPr>
          <a:lstStyle>
            <a:defPPr>
              <a:defRPr lang="de-DE"/>
            </a:defPPr>
          </a:lstStyle>
          <a:p>
            <a:pPr rtl="0"/>
            <a:r>
              <a:rPr lang="de-DE" dirty="0" err="1"/>
              <a:t>Quantization</a:t>
            </a:r>
            <a:endParaRPr lang="de-DE" dirty="0"/>
          </a:p>
        </p:txBody>
      </p:sp>
      <p:sp>
        <p:nvSpPr>
          <p:cNvPr id="17" name="Inhaltsplatzhalter 3">
            <a:extLst>
              <a:ext uri="{FF2B5EF4-FFF2-40B4-BE49-F238E27FC236}">
                <a16:creationId xmlns:a16="http://schemas.microsoft.com/office/drawing/2014/main" id="{5A64AD31-C2AD-B6AE-B7DB-C8BD518C962D}"/>
              </a:ext>
            </a:extLst>
          </p:cNvPr>
          <p:cNvSpPr txBox="1">
            <a:spLocks/>
          </p:cNvSpPr>
          <p:nvPr/>
        </p:nvSpPr>
        <p:spPr>
          <a:xfrm>
            <a:off x="2699083" y="1005423"/>
            <a:ext cx="8661819" cy="3102846"/>
          </a:xfrm>
          <a:prstGeom prst="rect">
            <a:avLst/>
          </a:prstGeom>
        </p:spPr>
        <p:txBody>
          <a:bodyPr rtlCol="0">
            <a:noAutofit/>
          </a:bodyPr>
          <a:lstStyle>
            <a:defPPr>
              <a:defRPr lang="de-DE"/>
            </a:defPPr>
            <a:lvl1pPr marL="228600" indent="-228600" algn="l" defTabSz="914400" rtl="0" eaLnBrk="1" latinLnBrk="0" hangingPunct="1">
              <a:lnSpc>
                <a:spcPct val="90000"/>
              </a:lnSpc>
              <a:spcBef>
                <a:spcPts val="1000"/>
              </a:spcBef>
              <a:buFont typeface="Arial" panose="020B0604020202020204" pitchFamily="34" charset="0"/>
              <a:buChar char="•"/>
              <a:defRPr lang="de-DE"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en-US" sz="2400" dirty="0"/>
              <a:t>Changing float32 weights to int8 or int4</a:t>
            </a:r>
          </a:p>
          <a:p>
            <a:r>
              <a:rPr lang="en-US" sz="2400" dirty="0"/>
              <a:t>By naively rounding it to the next integer</a:t>
            </a:r>
          </a:p>
          <a:p>
            <a:r>
              <a:rPr lang="en-US" sz="2400" dirty="0"/>
              <a:t>Or more sophisticated algorithms like GPTQ</a:t>
            </a:r>
          </a:p>
          <a:p>
            <a:endParaRPr lang="en-US" sz="2400" dirty="0"/>
          </a:p>
          <a:p>
            <a:endParaRPr lang="en-US" sz="2400" dirty="0"/>
          </a:p>
          <a:p>
            <a:endParaRPr lang="en-US" sz="2400" dirty="0"/>
          </a:p>
        </p:txBody>
      </p:sp>
      <p:pic>
        <p:nvPicPr>
          <p:cNvPr id="3" name="Picture 2" descr="NVIDIA H100 PCIe 80GB GPU Card">
            <a:extLst>
              <a:ext uri="{FF2B5EF4-FFF2-40B4-BE49-F238E27FC236}">
                <a16:creationId xmlns:a16="http://schemas.microsoft.com/office/drawing/2014/main" id="{736B4D1B-AAEE-D46B-62C2-B16EFE7302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8728" y="4393622"/>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Expensive Vs Cheap Icons - Free SVG &amp; PNG Expensive Vs Cheap Images - Noun  Project">
            <a:extLst>
              <a:ext uri="{FF2B5EF4-FFF2-40B4-BE49-F238E27FC236}">
                <a16:creationId xmlns:a16="http://schemas.microsoft.com/office/drawing/2014/main" id="{26E51D4A-0A47-4964-0D4A-7345C2567D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4084"/>
          <a:stretch>
            <a:fillRect/>
          </a:stretch>
        </p:blipFill>
        <p:spPr bwMode="auto">
          <a:xfrm>
            <a:off x="3074936" y="2721395"/>
            <a:ext cx="2182864" cy="4754076"/>
          </a:xfrm>
          <a:prstGeom prst="rect">
            <a:avLst/>
          </a:prstGeom>
          <a:noFill/>
          <a:extLst>
            <a:ext uri="{909E8E84-426E-40DD-AFC4-6F175D3DCCD1}">
              <a14:hiddenFill xmlns:a14="http://schemas.microsoft.com/office/drawing/2010/main">
                <a:solidFill>
                  <a:srgbClr val="FFFFFF"/>
                </a:solidFill>
              </a14:hiddenFill>
            </a:ext>
          </a:extLst>
        </p:spPr>
      </p:pic>
      <p:sp>
        <p:nvSpPr>
          <p:cNvPr id="4" name="PB">
            <a:extLst>
              <a:ext uri="{FF2B5EF4-FFF2-40B4-BE49-F238E27FC236}">
                <a16:creationId xmlns:a16="http://schemas.microsoft.com/office/drawing/2014/main" id="{8F8FFC42-D8FD-9ABD-700A-1C3A4C91A414}"/>
              </a:ext>
            </a:extLst>
          </p:cNvPr>
          <p:cNvSpPr/>
          <p:nvPr/>
        </p:nvSpPr>
        <p:spPr>
          <a:xfrm>
            <a:off x="0" y="6756400"/>
            <a:ext cx="3483428"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207576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8C03D-D5ED-29F0-786F-1A01A5E95820}"/>
            </a:ext>
          </a:extLst>
        </p:cNvPr>
        <p:cNvGrpSpPr/>
        <p:nvPr/>
      </p:nvGrpSpPr>
      <p:grpSpPr>
        <a:xfrm>
          <a:off x="0" y="0"/>
          <a:ext cx="0" cy="0"/>
          <a:chOff x="0" y="0"/>
          <a:chExt cx="0" cy="0"/>
        </a:xfrm>
      </p:grpSpPr>
      <p:sp>
        <p:nvSpPr>
          <p:cNvPr id="16" name="Titel 1">
            <a:extLst>
              <a:ext uri="{FF2B5EF4-FFF2-40B4-BE49-F238E27FC236}">
                <a16:creationId xmlns:a16="http://schemas.microsoft.com/office/drawing/2014/main" id="{29CB72C6-5184-2385-AF30-BA0F72AA8CCE}"/>
              </a:ext>
            </a:extLst>
          </p:cNvPr>
          <p:cNvSpPr>
            <a:spLocks noGrp="1"/>
          </p:cNvSpPr>
          <p:nvPr>
            <p:ph type="title"/>
          </p:nvPr>
        </p:nvSpPr>
        <p:spPr>
          <a:xfrm>
            <a:off x="2699083" y="352103"/>
            <a:ext cx="6878217" cy="653321"/>
          </a:xfrm>
        </p:spPr>
        <p:txBody>
          <a:bodyPr rtlCol="0" anchor="b">
            <a:noAutofit/>
          </a:bodyPr>
          <a:lstStyle>
            <a:defPPr>
              <a:defRPr lang="de-DE"/>
            </a:defPPr>
          </a:lstStyle>
          <a:p>
            <a:pPr rtl="0"/>
            <a:r>
              <a:rPr lang="de-DE" dirty="0" err="1"/>
              <a:t>Quantization</a:t>
            </a:r>
            <a:endParaRPr lang="de-DE" dirty="0"/>
          </a:p>
        </p:txBody>
      </p:sp>
      <p:sp>
        <p:nvSpPr>
          <p:cNvPr id="17" name="Inhaltsplatzhalter 3">
            <a:extLst>
              <a:ext uri="{FF2B5EF4-FFF2-40B4-BE49-F238E27FC236}">
                <a16:creationId xmlns:a16="http://schemas.microsoft.com/office/drawing/2014/main" id="{E815D636-4726-6C05-8EC8-44BA21C6FB56}"/>
              </a:ext>
            </a:extLst>
          </p:cNvPr>
          <p:cNvSpPr txBox="1">
            <a:spLocks/>
          </p:cNvSpPr>
          <p:nvPr/>
        </p:nvSpPr>
        <p:spPr>
          <a:xfrm>
            <a:off x="2699083" y="1005423"/>
            <a:ext cx="8661819" cy="3102846"/>
          </a:xfrm>
          <a:prstGeom prst="rect">
            <a:avLst/>
          </a:prstGeom>
        </p:spPr>
        <p:txBody>
          <a:bodyPr rtlCol="0">
            <a:noAutofit/>
          </a:bodyPr>
          <a:lstStyle>
            <a:defPPr>
              <a:defRPr lang="de-DE"/>
            </a:defPPr>
            <a:lvl1pPr marL="228600" indent="-228600" algn="l" defTabSz="914400" rtl="0" eaLnBrk="1" latinLnBrk="0" hangingPunct="1">
              <a:lnSpc>
                <a:spcPct val="90000"/>
              </a:lnSpc>
              <a:spcBef>
                <a:spcPts val="1000"/>
              </a:spcBef>
              <a:buFont typeface="Arial" panose="020B0604020202020204" pitchFamily="34" charset="0"/>
              <a:buChar char="•"/>
              <a:defRPr lang="de-DE"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en-US" sz="2400" dirty="0"/>
              <a:t>Changing float32 weights to int8 or int4</a:t>
            </a:r>
          </a:p>
          <a:p>
            <a:r>
              <a:rPr lang="en-US" sz="2400" dirty="0"/>
              <a:t>By naively rounding it to the next integer</a:t>
            </a:r>
          </a:p>
          <a:p>
            <a:r>
              <a:rPr lang="en-US" sz="2400" dirty="0"/>
              <a:t>Or more sophisticated algorithms like GPTQ</a:t>
            </a:r>
          </a:p>
          <a:p>
            <a:endParaRPr lang="en-US" sz="2400" dirty="0"/>
          </a:p>
          <a:p>
            <a:r>
              <a:rPr lang="en-US" sz="2400" dirty="0"/>
              <a:t>Only 1 H100 needed for running GPT-3 with int4 weights</a:t>
            </a:r>
          </a:p>
          <a:p>
            <a:r>
              <a:rPr lang="en-US" sz="2400" dirty="0"/>
              <a:t>Paving the way for faster inference with integer operations</a:t>
            </a:r>
          </a:p>
          <a:p>
            <a:endParaRPr lang="en-US" sz="2400" dirty="0"/>
          </a:p>
          <a:p>
            <a:endParaRPr lang="en-US" sz="2400" dirty="0"/>
          </a:p>
        </p:txBody>
      </p:sp>
      <p:pic>
        <p:nvPicPr>
          <p:cNvPr id="3" name="Picture 2" descr="NVIDIA H100 PCIe 80GB GPU Card">
            <a:extLst>
              <a:ext uri="{FF2B5EF4-FFF2-40B4-BE49-F238E27FC236}">
                <a16:creationId xmlns:a16="http://schemas.microsoft.com/office/drawing/2014/main" id="{0735CF45-56E5-5BE8-3604-0DB67C1E48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8728" y="4393622"/>
            <a:ext cx="2818856" cy="165999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Expensive Vs Cheap Icons - Free SVG &amp; PNG Expensive Vs Cheap Images - Noun  Project">
            <a:extLst>
              <a:ext uri="{FF2B5EF4-FFF2-40B4-BE49-F238E27FC236}">
                <a16:creationId xmlns:a16="http://schemas.microsoft.com/office/drawing/2014/main" id="{2BA9AB2C-B9FA-57D6-C6CF-EF5C027E00A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4084"/>
          <a:stretch>
            <a:fillRect/>
          </a:stretch>
        </p:blipFill>
        <p:spPr bwMode="auto">
          <a:xfrm>
            <a:off x="3074936" y="2721395"/>
            <a:ext cx="2182864" cy="4754076"/>
          </a:xfrm>
          <a:prstGeom prst="rect">
            <a:avLst/>
          </a:prstGeom>
          <a:noFill/>
          <a:extLst>
            <a:ext uri="{909E8E84-426E-40DD-AFC4-6F175D3DCCD1}">
              <a14:hiddenFill xmlns:a14="http://schemas.microsoft.com/office/drawing/2010/main">
                <a:solidFill>
                  <a:srgbClr val="FFFFFF"/>
                </a:solidFill>
              </a14:hiddenFill>
            </a:ext>
          </a:extLst>
        </p:spPr>
      </p:pic>
      <p:sp>
        <p:nvSpPr>
          <p:cNvPr id="4" name="PB">
            <a:extLst>
              <a:ext uri="{FF2B5EF4-FFF2-40B4-BE49-F238E27FC236}">
                <a16:creationId xmlns:a16="http://schemas.microsoft.com/office/drawing/2014/main" id="{EE70B2B9-A6DD-446C-DAEA-921E811CE5FC}"/>
              </a:ext>
            </a:extLst>
          </p:cNvPr>
          <p:cNvSpPr/>
          <p:nvPr/>
        </p:nvSpPr>
        <p:spPr>
          <a:xfrm>
            <a:off x="0" y="6756400"/>
            <a:ext cx="4354286"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926624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FFCA6-2E2F-D59D-AA95-2A793AAAA6BC}"/>
            </a:ext>
          </a:extLst>
        </p:cNvPr>
        <p:cNvGrpSpPr/>
        <p:nvPr/>
      </p:nvGrpSpPr>
      <p:grpSpPr>
        <a:xfrm>
          <a:off x="0" y="0"/>
          <a:ext cx="0" cy="0"/>
          <a:chOff x="0" y="0"/>
          <a:chExt cx="0" cy="0"/>
        </a:xfrm>
      </p:grpSpPr>
      <p:sp>
        <p:nvSpPr>
          <p:cNvPr id="17" name="Titel 1">
            <a:extLst>
              <a:ext uri="{FF2B5EF4-FFF2-40B4-BE49-F238E27FC236}">
                <a16:creationId xmlns:a16="http://schemas.microsoft.com/office/drawing/2014/main" id="{D2555AC7-864A-77C5-A41E-F6A202D79C60}"/>
              </a:ext>
            </a:extLst>
          </p:cNvPr>
          <p:cNvSpPr>
            <a:spLocks noGrp="1"/>
          </p:cNvSpPr>
          <p:nvPr>
            <p:ph type="title"/>
          </p:nvPr>
        </p:nvSpPr>
        <p:spPr>
          <a:xfrm>
            <a:off x="328476" y="1622784"/>
            <a:ext cx="5133392" cy="653321"/>
          </a:xfrm>
        </p:spPr>
        <p:txBody>
          <a:bodyPr rtlCol="0" anchor="b"/>
          <a:lstStyle>
            <a:defPPr>
              <a:defRPr lang="de-DE"/>
            </a:defPPr>
          </a:lstStyle>
          <a:p>
            <a:pPr rtl="0"/>
            <a:r>
              <a:rPr lang="de-DE" dirty="0" err="1"/>
              <a:t>What</a:t>
            </a:r>
            <a:r>
              <a:rPr lang="de-DE" dirty="0"/>
              <a:t> I </a:t>
            </a:r>
            <a:r>
              <a:rPr lang="de-DE" dirty="0" err="1"/>
              <a:t>did</a:t>
            </a:r>
            <a:endParaRPr lang="de-DE" dirty="0"/>
          </a:p>
        </p:txBody>
      </p:sp>
      <p:sp>
        <p:nvSpPr>
          <p:cNvPr id="20" name="Inhaltsplatzhalter 3">
            <a:extLst>
              <a:ext uri="{FF2B5EF4-FFF2-40B4-BE49-F238E27FC236}">
                <a16:creationId xmlns:a16="http://schemas.microsoft.com/office/drawing/2014/main" id="{09048359-1304-E821-9407-08369DE19FAB}"/>
              </a:ext>
            </a:extLst>
          </p:cNvPr>
          <p:cNvSpPr>
            <a:spLocks noGrp="1"/>
          </p:cNvSpPr>
          <p:nvPr>
            <p:ph sz="half" idx="2"/>
          </p:nvPr>
        </p:nvSpPr>
        <p:spPr>
          <a:xfrm>
            <a:off x="328476" y="2276105"/>
            <a:ext cx="7561490" cy="2877192"/>
          </a:xfrm>
        </p:spPr>
        <p:txBody>
          <a:bodyPr rtlCol="0">
            <a:noAutofit/>
          </a:bodyPr>
          <a:lstStyle>
            <a:defPPr>
              <a:defRPr lang="de-DE"/>
            </a:defPPr>
          </a:lstStyle>
          <a:p>
            <a:pPr rtl="0"/>
            <a:r>
              <a:rPr lang="de-AT" sz="2400" dirty="0"/>
              <a:t>Re-</a:t>
            </a:r>
            <a:r>
              <a:rPr lang="de-AT" sz="2400" dirty="0" err="1"/>
              <a:t>implemented</a:t>
            </a:r>
            <a:r>
              <a:rPr lang="de-AT" sz="2400" dirty="0"/>
              <a:t> a 2-3 M </a:t>
            </a:r>
            <a:r>
              <a:rPr lang="de-AT" sz="2400" dirty="0" err="1"/>
              <a:t>parameter</a:t>
            </a:r>
            <a:r>
              <a:rPr lang="de-AT" sz="2400" dirty="0"/>
              <a:t> </a:t>
            </a:r>
            <a:r>
              <a:rPr lang="de-AT" sz="2400" dirty="0" err="1"/>
              <a:t>transformer</a:t>
            </a:r>
            <a:endParaRPr lang="de-AT" sz="2400" dirty="0"/>
          </a:p>
          <a:p>
            <a:pPr rtl="0"/>
            <a:r>
              <a:rPr lang="de-AT" sz="2400" dirty="0" err="1"/>
              <a:t>Trained</a:t>
            </a:r>
            <a:r>
              <a:rPr lang="de-AT" sz="2400" dirty="0"/>
              <a:t> </a:t>
            </a:r>
            <a:r>
              <a:rPr lang="de-AT" sz="2400" dirty="0" err="1"/>
              <a:t>it</a:t>
            </a:r>
            <a:r>
              <a:rPr lang="de-AT" sz="2400" dirty="0"/>
              <a:t> on a 10 MB </a:t>
            </a:r>
            <a:r>
              <a:rPr lang="de-AT" sz="2400" dirty="0" err="1"/>
              <a:t>text</a:t>
            </a:r>
            <a:r>
              <a:rPr lang="de-AT" sz="2400" dirty="0"/>
              <a:t> </a:t>
            </a:r>
            <a:r>
              <a:rPr lang="de-AT" sz="2400" dirty="0" err="1"/>
              <a:t>dataset</a:t>
            </a:r>
            <a:endParaRPr lang="de-AT" sz="2400" dirty="0"/>
          </a:p>
        </p:txBody>
      </p:sp>
      <p:sp>
        <p:nvSpPr>
          <p:cNvPr id="7" name="Textfeld 6">
            <a:extLst>
              <a:ext uri="{FF2B5EF4-FFF2-40B4-BE49-F238E27FC236}">
                <a16:creationId xmlns:a16="http://schemas.microsoft.com/office/drawing/2014/main" id="{3C8E9322-8D0D-D1F8-953C-FE0DFF9C4AAF}"/>
              </a:ext>
            </a:extLst>
          </p:cNvPr>
          <p:cNvSpPr txBox="1"/>
          <p:nvPr/>
        </p:nvSpPr>
        <p:spPr>
          <a:xfrm>
            <a:off x="7217705" y="4799354"/>
            <a:ext cx="6288770" cy="707886"/>
          </a:xfrm>
          <a:prstGeom prst="rect">
            <a:avLst/>
          </a:prstGeom>
          <a:noFill/>
        </p:spPr>
        <p:txBody>
          <a:bodyPr wrap="square">
            <a:spAutoFit/>
          </a:bodyPr>
          <a:lstStyle/>
          <a:p>
            <a:r>
              <a:rPr lang="de-AT" sz="4000" dirty="0">
                <a:latin typeface="Consolas" panose="020B0609020204030204" pitchFamily="49" charset="0"/>
              </a:rPr>
              <a:t>float32 → int8 </a:t>
            </a:r>
          </a:p>
        </p:txBody>
      </p:sp>
      <p:sp>
        <p:nvSpPr>
          <p:cNvPr id="8" name="Rechteck 7">
            <a:extLst>
              <a:ext uri="{FF2B5EF4-FFF2-40B4-BE49-F238E27FC236}">
                <a16:creationId xmlns:a16="http://schemas.microsoft.com/office/drawing/2014/main" id="{8D975793-693F-3974-61FE-FBB065F8D3F8}"/>
              </a:ext>
            </a:extLst>
          </p:cNvPr>
          <p:cNvSpPr/>
          <p:nvPr/>
        </p:nvSpPr>
        <p:spPr>
          <a:xfrm>
            <a:off x="7140497" y="4647652"/>
            <a:ext cx="4372164" cy="1011290"/>
          </a:xfrm>
          <a:prstGeom prst="rect">
            <a:avLst/>
          </a:prstGeom>
          <a:noFill/>
          <a:ln w="1079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 name="PB">
            <a:extLst>
              <a:ext uri="{FF2B5EF4-FFF2-40B4-BE49-F238E27FC236}">
                <a16:creationId xmlns:a16="http://schemas.microsoft.com/office/drawing/2014/main" id="{697A075C-C954-AC88-DB46-E50AE4DCEACE}"/>
              </a:ext>
            </a:extLst>
          </p:cNvPr>
          <p:cNvSpPr/>
          <p:nvPr/>
        </p:nvSpPr>
        <p:spPr>
          <a:xfrm>
            <a:off x="0" y="6756400"/>
            <a:ext cx="5225143"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418093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89120-FB53-7698-ABF6-72D5FBBC7514}"/>
            </a:ext>
          </a:extLst>
        </p:cNvPr>
        <p:cNvGrpSpPr/>
        <p:nvPr/>
      </p:nvGrpSpPr>
      <p:grpSpPr>
        <a:xfrm>
          <a:off x="0" y="0"/>
          <a:ext cx="0" cy="0"/>
          <a:chOff x="0" y="0"/>
          <a:chExt cx="0" cy="0"/>
        </a:xfrm>
      </p:grpSpPr>
      <p:sp>
        <p:nvSpPr>
          <p:cNvPr id="17" name="Titel 1">
            <a:extLst>
              <a:ext uri="{FF2B5EF4-FFF2-40B4-BE49-F238E27FC236}">
                <a16:creationId xmlns:a16="http://schemas.microsoft.com/office/drawing/2014/main" id="{D0DA6B42-9C1C-BA4B-0722-FDCEDB4D79D6}"/>
              </a:ext>
            </a:extLst>
          </p:cNvPr>
          <p:cNvSpPr>
            <a:spLocks noGrp="1"/>
          </p:cNvSpPr>
          <p:nvPr>
            <p:ph type="title"/>
          </p:nvPr>
        </p:nvSpPr>
        <p:spPr>
          <a:xfrm>
            <a:off x="328476" y="1622784"/>
            <a:ext cx="5133392" cy="653321"/>
          </a:xfrm>
        </p:spPr>
        <p:txBody>
          <a:bodyPr rtlCol="0" anchor="b"/>
          <a:lstStyle>
            <a:defPPr>
              <a:defRPr lang="de-DE"/>
            </a:defPPr>
          </a:lstStyle>
          <a:p>
            <a:pPr rtl="0"/>
            <a:r>
              <a:rPr lang="de-DE" dirty="0" err="1"/>
              <a:t>What</a:t>
            </a:r>
            <a:r>
              <a:rPr lang="de-DE" dirty="0"/>
              <a:t> I </a:t>
            </a:r>
            <a:r>
              <a:rPr lang="de-DE" dirty="0" err="1"/>
              <a:t>did</a:t>
            </a:r>
            <a:endParaRPr lang="de-DE" dirty="0"/>
          </a:p>
        </p:txBody>
      </p:sp>
      <p:sp>
        <p:nvSpPr>
          <p:cNvPr id="20" name="Inhaltsplatzhalter 3">
            <a:extLst>
              <a:ext uri="{FF2B5EF4-FFF2-40B4-BE49-F238E27FC236}">
                <a16:creationId xmlns:a16="http://schemas.microsoft.com/office/drawing/2014/main" id="{182E01DA-F93F-F9C4-5F7D-4A53FE5A2F1D}"/>
              </a:ext>
            </a:extLst>
          </p:cNvPr>
          <p:cNvSpPr>
            <a:spLocks noGrp="1"/>
          </p:cNvSpPr>
          <p:nvPr>
            <p:ph sz="half" idx="2"/>
          </p:nvPr>
        </p:nvSpPr>
        <p:spPr>
          <a:xfrm>
            <a:off x="328476" y="2276105"/>
            <a:ext cx="7561490" cy="2877192"/>
          </a:xfrm>
        </p:spPr>
        <p:txBody>
          <a:bodyPr rtlCol="0">
            <a:noAutofit/>
          </a:bodyPr>
          <a:lstStyle>
            <a:defPPr>
              <a:defRPr lang="de-DE"/>
            </a:defPPr>
          </a:lstStyle>
          <a:p>
            <a:pPr rtl="0"/>
            <a:r>
              <a:rPr lang="de-AT" sz="2400" dirty="0"/>
              <a:t>Re-</a:t>
            </a:r>
            <a:r>
              <a:rPr lang="de-AT" sz="2400" dirty="0" err="1"/>
              <a:t>implemented</a:t>
            </a:r>
            <a:r>
              <a:rPr lang="de-AT" sz="2400" dirty="0"/>
              <a:t> a 2-3 M </a:t>
            </a:r>
            <a:r>
              <a:rPr lang="de-AT" sz="2400" dirty="0" err="1"/>
              <a:t>parameter</a:t>
            </a:r>
            <a:r>
              <a:rPr lang="de-AT" sz="2400" dirty="0"/>
              <a:t> </a:t>
            </a:r>
            <a:r>
              <a:rPr lang="de-AT" sz="2400" dirty="0" err="1"/>
              <a:t>transformer</a:t>
            </a:r>
            <a:endParaRPr lang="de-AT" sz="2400" dirty="0"/>
          </a:p>
          <a:p>
            <a:pPr rtl="0"/>
            <a:r>
              <a:rPr lang="de-AT" sz="2400" dirty="0" err="1"/>
              <a:t>Trained</a:t>
            </a:r>
            <a:r>
              <a:rPr lang="de-AT" sz="2400" dirty="0"/>
              <a:t> </a:t>
            </a:r>
            <a:r>
              <a:rPr lang="de-AT" sz="2400" dirty="0" err="1"/>
              <a:t>it</a:t>
            </a:r>
            <a:r>
              <a:rPr lang="de-AT" sz="2400" dirty="0"/>
              <a:t> on a 10 MB </a:t>
            </a:r>
            <a:r>
              <a:rPr lang="de-AT" sz="2400" dirty="0" err="1"/>
              <a:t>text</a:t>
            </a:r>
            <a:r>
              <a:rPr lang="de-AT" sz="2400" dirty="0"/>
              <a:t> </a:t>
            </a:r>
            <a:r>
              <a:rPr lang="de-AT" sz="2400" dirty="0" err="1"/>
              <a:t>dataset</a:t>
            </a:r>
            <a:endParaRPr lang="de-AT" sz="2400" dirty="0"/>
          </a:p>
          <a:p>
            <a:pPr rtl="0"/>
            <a:r>
              <a:rPr lang="de-AT" sz="2400" dirty="0" err="1"/>
              <a:t>Implemented</a:t>
            </a:r>
            <a:r>
              <a:rPr lang="de-AT" sz="2400" dirty="0"/>
              <a:t> </a:t>
            </a:r>
            <a:r>
              <a:rPr lang="de-AT" sz="2400" dirty="0" err="1"/>
              <a:t>two</a:t>
            </a:r>
            <a:r>
              <a:rPr lang="de-AT" sz="2400" dirty="0"/>
              <a:t> </a:t>
            </a:r>
            <a:r>
              <a:rPr lang="de-AT" sz="2400" dirty="0" err="1"/>
              <a:t>quantization</a:t>
            </a:r>
            <a:r>
              <a:rPr lang="de-AT" sz="2400" dirty="0"/>
              <a:t> </a:t>
            </a:r>
            <a:r>
              <a:rPr lang="de-AT" sz="2400" dirty="0" err="1"/>
              <a:t>methods</a:t>
            </a:r>
            <a:r>
              <a:rPr lang="de-AT" sz="2400" dirty="0"/>
              <a:t> </a:t>
            </a:r>
            <a:r>
              <a:rPr lang="de-AT" sz="2400" dirty="0" err="1"/>
              <a:t>for</a:t>
            </a:r>
            <a:r>
              <a:rPr lang="de-AT" sz="2400" dirty="0"/>
              <a:t> int8</a:t>
            </a:r>
          </a:p>
          <a:p>
            <a:pPr rtl="0"/>
            <a:r>
              <a:rPr lang="de-AT" sz="2400" dirty="0" err="1"/>
              <a:t>Quantization</a:t>
            </a:r>
            <a:r>
              <a:rPr lang="de-AT" sz="2400" dirty="0"/>
              <a:t> </a:t>
            </a:r>
            <a:r>
              <a:rPr lang="de-AT" sz="2400" dirty="0" err="1"/>
              <a:t>it</a:t>
            </a:r>
            <a:r>
              <a:rPr lang="de-AT" sz="2400" dirty="0"/>
              <a:t> </a:t>
            </a:r>
            <a:r>
              <a:rPr lang="de-AT" sz="2400" dirty="0" err="1"/>
              <a:t>using</a:t>
            </a:r>
            <a:r>
              <a:rPr lang="de-AT" sz="2400" dirty="0"/>
              <a:t> naive </a:t>
            </a:r>
            <a:r>
              <a:rPr lang="de-AT" sz="2400" dirty="0" err="1"/>
              <a:t>rounding</a:t>
            </a:r>
            <a:endParaRPr lang="de-AT" sz="2400" dirty="0"/>
          </a:p>
          <a:p>
            <a:pPr rtl="0"/>
            <a:r>
              <a:rPr lang="de-AT" sz="2400" dirty="0" err="1"/>
              <a:t>Quantization</a:t>
            </a:r>
            <a:r>
              <a:rPr lang="de-AT" sz="2400" dirty="0"/>
              <a:t> </a:t>
            </a:r>
            <a:r>
              <a:rPr lang="de-AT" sz="2400" dirty="0" err="1"/>
              <a:t>using</a:t>
            </a:r>
            <a:r>
              <a:rPr lang="de-AT" sz="2400" dirty="0"/>
              <a:t> GPTQ</a:t>
            </a:r>
          </a:p>
        </p:txBody>
      </p:sp>
      <p:sp>
        <p:nvSpPr>
          <p:cNvPr id="7" name="Textfeld 6">
            <a:extLst>
              <a:ext uri="{FF2B5EF4-FFF2-40B4-BE49-F238E27FC236}">
                <a16:creationId xmlns:a16="http://schemas.microsoft.com/office/drawing/2014/main" id="{36AFF925-FF0C-4CD6-B951-DDCE169D11B5}"/>
              </a:ext>
            </a:extLst>
          </p:cNvPr>
          <p:cNvSpPr txBox="1"/>
          <p:nvPr/>
        </p:nvSpPr>
        <p:spPr>
          <a:xfrm>
            <a:off x="7217705" y="4799354"/>
            <a:ext cx="6288770" cy="707886"/>
          </a:xfrm>
          <a:prstGeom prst="rect">
            <a:avLst/>
          </a:prstGeom>
          <a:noFill/>
        </p:spPr>
        <p:txBody>
          <a:bodyPr wrap="square">
            <a:spAutoFit/>
          </a:bodyPr>
          <a:lstStyle/>
          <a:p>
            <a:r>
              <a:rPr lang="de-AT" sz="4000" dirty="0">
                <a:latin typeface="Consolas" panose="020B0609020204030204" pitchFamily="49" charset="0"/>
              </a:rPr>
              <a:t>float32 → int8 </a:t>
            </a:r>
          </a:p>
        </p:txBody>
      </p:sp>
      <p:sp>
        <p:nvSpPr>
          <p:cNvPr id="8" name="Rechteck 7">
            <a:extLst>
              <a:ext uri="{FF2B5EF4-FFF2-40B4-BE49-F238E27FC236}">
                <a16:creationId xmlns:a16="http://schemas.microsoft.com/office/drawing/2014/main" id="{C62034B0-4808-44EC-DCF2-D1698B2B1DDF}"/>
              </a:ext>
            </a:extLst>
          </p:cNvPr>
          <p:cNvSpPr/>
          <p:nvPr/>
        </p:nvSpPr>
        <p:spPr>
          <a:xfrm>
            <a:off x="7140497" y="4647652"/>
            <a:ext cx="4372164" cy="1011290"/>
          </a:xfrm>
          <a:prstGeom prst="rect">
            <a:avLst/>
          </a:prstGeom>
          <a:noFill/>
          <a:ln w="1079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 name="PB">
            <a:extLst>
              <a:ext uri="{FF2B5EF4-FFF2-40B4-BE49-F238E27FC236}">
                <a16:creationId xmlns:a16="http://schemas.microsoft.com/office/drawing/2014/main" id="{2408371E-2219-2B8C-3EE1-8509F62B6BE1}"/>
              </a:ext>
            </a:extLst>
          </p:cNvPr>
          <p:cNvSpPr/>
          <p:nvPr/>
        </p:nvSpPr>
        <p:spPr>
          <a:xfrm>
            <a:off x="0" y="6756400"/>
            <a:ext cx="6096000"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871032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B67A1-3E18-1B0A-7A84-D9CA48D45B31}"/>
            </a:ext>
          </a:extLst>
        </p:cNvPr>
        <p:cNvGrpSpPr/>
        <p:nvPr/>
      </p:nvGrpSpPr>
      <p:grpSpPr>
        <a:xfrm>
          <a:off x="0" y="0"/>
          <a:ext cx="0" cy="0"/>
          <a:chOff x="0" y="0"/>
          <a:chExt cx="0" cy="0"/>
        </a:xfrm>
      </p:grpSpPr>
      <p:sp>
        <p:nvSpPr>
          <p:cNvPr id="17" name="Titel 1">
            <a:extLst>
              <a:ext uri="{FF2B5EF4-FFF2-40B4-BE49-F238E27FC236}">
                <a16:creationId xmlns:a16="http://schemas.microsoft.com/office/drawing/2014/main" id="{533B8653-56A2-7BDD-FCB0-C8EE6F7A99CD}"/>
              </a:ext>
            </a:extLst>
          </p:cNvPr>
          <p:cNvSpPr>
            <a:spLocks noGrp="1"/>
          </p:cNvSpPr>
          <p:nvPr>
            <p:ph type="title"/>
          </p:nvPr>
        </p:nvSpPr>
        <p:spPr>
          <a:xfrm>
            <a:off x="328476" y="1622784"/>
            <a:ext cx="5133392" cy="653321"/>
          </a:xfrm>
        </p:spPr>
        <p:txBody>
          <a:bodyPr rtlCol="0" anchor="b"/>
          <a:lstStyle>
            <a:defPPr>
              <a:defRPr lang="de-DE"/>
            </a:defPPr>
          </a:lstStyle>
          <a:p>
            <a:pPr rtl="0"/>
            <a:r>
              <a:rPr lang="de-DE" dirty="0" err="1"/>
              <a:t>What</a:t>
            </a:r>
            <a:r>
              <a:rPr lang="de-DE" dirty="0"/>
              <a:t> I </a:t>
            </a:r>
            <a:r>
              <a:rPr lang="de-DE" dirty="0" err="1"/>
              <a:t>did</a:t>
            </a:r>
            <a:endParaRPr lang="de-DE" dirty="0"/>
          </a:p>
        </p:txBody>
      </p:sp>
      <p:sp>
        <p:nvSpPr>
          <p:cNvPr id="20" name="Inhaltsplatzhalter 3">
            <a:extLst>
              <a:ext uri="{FF2B5EF4-FFF2-40B4-BE49-F238E27FC236}">
                <a16:creationId xmlns:a16="http://schemas.microsoft.com/office/drawing/2014/main" id="{7F933216-1E0C-7AC6-BE3B-DEB2F7B5589B}"/>
              </a:ext>
            </a:extLst>
          </p:cNvPr>
          <p:cNvSpPr>
            <a:spLocks noGrp="1"/>
          </p:cNvSpPr>
          <p:nvPr>
            <p:ph sz="half" idx="2"/>
          </p:nvPr>
        </p:nvSpPr>
        <p:spPr>
          <a:xfrm>
            <a:off x="328476" y="2276105"/>
            <a:ext cx="7561490" cy="2877192"/>
          </a:xfrm>
        </p:spPr>
        <p:txBody>
          <a:bodyPr rtlCol="0">
            <a:noAutofit/>
          </a:bodyPr>
          <a:lstStyle>
            <a:defPPr>
              <a:defRPr lang="de-DE"/>
            </a:defPPr>
          </a:lstStyle>
          <a:p>
            <a:pPr rtl="0"/>
            <a:r>
              <a:rPr lang="de-AT" sz="2400" dirty="0"/>
              <a:t>Re-</a:t>
            </a:r>
            <a:r>
              <a:rPr lang="de-AT" sz="2400" dirty="0" err="1"/>
              <a:t>implemented</a:t>
            </a:r>
            <a:r>
              <a:rPr lang="de-AT" sz="2400" dirty="0"/>
              <a:t> a 2-3 M </a:t>
            </a:r>
            <a:r>
              <a:rPr lang="de-AT" sz="2400" dirty="0" err="1"/>
              <a:t>parameter</a:t>
            </a:r>
            <a:r>
              <a:rPr lang="de-AT" sz="2400" dirty="0"/>
              <a:t> </a:t>
            </a:r>
            <a:r>
              <a:rPr lang="de-AT" sz="2400" dirty="0" err="1"/>
              <a:t>transformer</a:t>
            </a:r>
            <a:endParaRPr lang="de-AT" sz="2400" dirty="0"/>
          </a:p>
          <a:p>
            <a:pPr rtl="0"/>
            <a:r>
              <a:rPr lang="de-AT" sz="2400" dirty="0" err="1"/>
              <a:t>Trained</a:t>
            </a:r>
            <a:r>
              <a:rPr lang="de-AT" sz="2400" dirty="0"/>
              <a:t> </a:t>
            </a:r>
            <a:r>
              <a:rPr lang="de-AT" sz="2400" dirty="0" err="1"/>
              <a:t>it</a:t>
            </a:r>
            <a:r>
              <a:rPr lang="de-AT" sz="2400" dirty="0"/>
              <a:t> on a 10 MB </a:t>
            </a:r>
            <a:r>
              <a:rPr lang="de-AT" sz="2400" dirty="0" err="1"/>
              <a:t>text</a:t>
            </a:r>
            <a:r>
              <a:rPr lang="de-AT" sz="2400" dirty="0"/>
              <a:t> </a:t>
            </a:r>
            <a:r>
              <a:rPr lang="de-AT" sz="2400" dirty="0" err="1"/>
              <a:t>dataset</a:t>
            </a:r>
            <a:endParaRPr lang="de-AT" sz="2400" dirty="0"/>
          </a:p>
          <a:p>
            <a:pPr rtl="0"/>
            <a:r>
              <a:rPr lang="de-AT" sz="2400" dirty="0" err="1"/>
              <a:t>Implemented</a:t>
            </a:r>
            <a:r>
              <a:rPr lang="de-AT" sz="2400" dirty="0"/>
              <a:t> </a:t>
            </a:r>
            <a:r>
              <a:rPr lang="de-AT" sz="2400" dirty="0" err="1"/>
              <a:t>two</a:t>
            </a:r>
            <a:r>
              <a:rPr lang="de-AT" sz="2400" dirty="0"/>
              <a:t> </a:t>
            </a:r>
            <a:r>
              <a:rPr lang="de-AT" sz="2400" dirty="0" err="1"/>
              <a:t>quantization</a:t>
            </a:r>
            <a:r>
              <a:rPr lang="de-AT" sz="2400" dirty="0"/>
              <a:t> </a:t>
            </a:r>
            <a:r>
              <a:rPr lang="de-AT" sz="2400" dirty="0" err="1"/>
              <a:t>methods</a:t>
            </a:r>
            <a:r>
              <a:rPr lang="de-AT" sz="2400" dirty="0"/>
              <a:t> </a:t>
            </a:r>
            <a:r>
              <a:rPr lang="de-AT" sz="2400" dirty="0" err="1"/>
              <a:t>for</a:t>
            </a:r>
            <a:r>
              <a:rPr lang="de-AT" sz="2400" dirty="0"/>
              <a:t> int8</a:t>
            </a:r>
          </a:p>
          <a:p>
            <a:pPr rtl="0"/>
            <a:r>
              <a:rPr lang="de-AT" sz="2400" dirty="0" err="1"/>
              <a:t>Quantization</a:t>
            </a:r>
            <a:r>
              <a:rPr lang="de-AT" sz="2400" dirty="0"/>
              <a:t> </a:t>
            </a:r>
            <a:r>
              <a:rPr lang="de-AT" sz="2400" dirty="0" err="1"/>
              <a:t>it</a:t>
            </a:r>
            <a:r>
              <a:rPr lang="de-AT" sz="2400" dirty="0"/>
              <a:t> </a:t>
            </a:r>
            <a:r>
              <a:rPr lang="de-AT" sz="2400" dirty="0" err="1"/>
              <a:t>using</a:t>
            </a:r>
            <a:r>
              <a:rPr lang="de-AT" sz="2400" dirty="0"/>
              <a:t> naive </a:t>
            </a:r>
            <a:r>
              <a:rPr lang="de-AT" sz="2400" dirty="0" err="1"/>
              <a:t>rounding</a:t>
            </a:r>
            <a:endParaRPr lang="de-AT" sz="2400" dirty="0"/>
          </a:p>
          <a:p>
            <a:pPr rtl="0"/>
            <a:r>
              <a:rPr lang="de-AT" sz="2400" dirty="0" err="1"/>
              <a:t>Quantization</a:t>
            </a:r>
            <a:r>
              <a:rPr lang="de-AT" sz="2400" dirty="0"/>
              <a:t> </a:t>
            </a:r>
            <a:r>
              <a:rPr lang="de-AT" sz="2400" dirty="0" err="1"/>
              <a:t>using</a:t>
            </a:r>
            <a:r>
              <a:rPr lang="de-AT" sz="2400" dirty="0"/>
              <a:t> GPTQ</a:t>
            </a:r>
          </a:p>
          <a:p>
            <a:pPr rtl="0"/>
            <a:r>
              <a:rPr lang="de-AT" sz="2400" dirty="0" err="1"/>
              <a:t>Comparison</a:t>
            </a:r>
            <a:r>
              <a:rPr lang="de-AT" sz="2400" dirty="0"/>
              <a:t>, </a:t>
            </a:r>
            <a:r>
              <a:rPr lang="de-AT" sz="2400" dirty="0" err="1"/>
              <a:t>evaluation</a:t>
            </a:r>
            <a:r>
              <a:rPr lang="de-AT" sz="2400" dirty="0"/>
              <a:t>, </a:t>
            </a:r>
            <a:r>
              <a:rPr lang="de-AT" sz="2400" dirty="0" err="1"/>
              <a:t>demo</a:t>
            </a:r>
            <a:r>
              <a:rPr lang="de-AT" sz="2400" dirty="0"/>
              <a:t>, …</a:t>
            </a:r>
            <a:endParaRPr lang="de-DE" sz="2400" dirty="0"/>
          </a:p>
        </p:txBody>
      </p:sp>
      <p:sp>
        <p:nvSpPr>
          <p:cNvPr id="7" name="Textfeld 6">
            <a:extLst>
              <a:ext uri="{FF2B5EF4-FFF2-40B4-BE49-F238E27FC236}">
                <a16:creationId xmlns:a16="http://schemas.microsoft.com/office/drawing/2014/main" id="{02B2B60E-3D75-C7C0-B2B5-9863A66675D8}"/>
              </a:ext>
            </a:extLst>
          </p:cNvPr>
          <p:cNvSpPr txBox="1"/>
          <p:nvPr/>
        </p:nvSpPr>
        <p:spPr>
          <a:xfrm>
            <a:off x="7217705" y="4799354"/>
            <a:ext cx="6288770" cy="707886"/>
          </a:xfrm>
          <a:prstGeom prst="rect">
            <a:avLst/>
          </a:prstGeom>
          <a:noFill/>
        </p:spPr>
        <p:txBody>
          <a:bodyPr wrap="square">
            <a:spAutoFit/>
          </a:bodyPr>
          <a:lstStyle/>
          <a:p>
            <a:r>
              <a:rPr lang="de-AT" sz="4000" dirty="0">
                <a:latin typeface="Consolas" panose="020B0609020204030204" pitchFamily="49" charset="0"/>
              </a:rPr>
              <a:t>float32 → int8 </a:t>
            </a:r>
          </a:p>
        </p:txBody>
      </p:sp>
      <p:sp>
        <p:nvSpPr>
          <p:cNvPr id="8" name="Rechteck 7">
            <a:extLst>
              <a:ext uri="{FF2B5EF4-FFF2-40B4-BE49-F238E27FC236}">
                <a16:creationId xmlns:a16="http://schemas.microsoft.com/office/drawing/2014/main" id="{1B7B46FC-EFB4-03CD-A8C2-6E35268F5638}"/>
              </a:ext>
            </a:extLst>
          </p:cNvPr>
          <p:cNvSpPr/>
          <p:nvPr/>
        </p:nvSpPr>
        <p:spPr>
          <a:xfrm>
            <a:off x="7140497" y="4647652"/>
            <a:ext cx="4372164" cy="1011290"/>
          </a:xfrm>
          <a:prstGeom prst="rect">
            <a:avLst/>
          </a:prstGeom>
          <a:noFill/>
          <a:ln w="1079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 name="PB">
            <a:extLst>
              <a:ext uri="{FF2B5EF4-FFF2-40B4-BE49-F238E27FC236}">
                <a16:creationId xmlns:a16="http://schemas.microsoft.com/office/drawing/2014/main" id="{E53B1DC2-1718-E4AB-3B12-D9369F1F24DB}"/>
              </a:ext>
            </a:extLst>
          </p:cNvPr>
          <p:cNvSpPr/>
          <p:nvPr/>
        </p:nvSpPr>
        <p:spPr>
          <a:xfrm>
            <a:off x="0" y="6756400"/>
            <a:ext cx="6966857"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31782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CD050-69BA-017B-3DB5-12307F574093}"/>
            </a:ext>
          </a:extLst>
        </p:cNvPr>
        <p:cNvGrpSpPr/>
        <p:nvPr/>
      </p:nvGrpSpPr>
      <p:grpSpPr>
        <a:xfrm>
          <a:off x="0" y="0"/>
          <a:ext cx="0" cy="0"/>
          <a:chOff x="0" y="0"/>
          <a:chExt cx="0" cy="0"/>
        </a:xfrm>
      </p:grpSpPr>
      <p:sp>
        <p:nvSpPr>
          <p:cNvPr id="16" name="Titel 1">
            <a:extLst>
              <a:ext uri="{FF2B5EF4-FFF2-40B4-BE49-F238E27FC236}">
                <a16:creationId xmlns:a16="http://schemas.microsoft.com/office/drawing/2014/main" id="{3C5E18E6-2D08-6A36-9E50-D1ECB489609B}"/>
              </a:ext>
            </a:extLst>
          </p:cNvPr>
          <p:cNvSpPr>
            <a:spLocks noGrp="1"/>
          </p:cNvSpPr>
          <p:nvPr>
            <p:ph type="title"/>
          </p:nvPr>
        </p:nvSpPr>
        <p:spPr>
          <a:xfrm>
            <a:off x="2699083" y="352103"/>
            <a:ext cx="6878217" cy="653321"/>
          </a:xfrm>
        </p:spPr>
        <p:txBody>
          <a:bodyPr rtlCol="0" anchor="b">
            <a:noAutofit/>
          </a:bodyPr>
          <a:lstStyle>
            <a:defPPr>
              <a:defRPr lang="de-DE"/>
            </a:defPPr>
          </a:lstStyle>
          <a:p>
            <a:pPr rtl="0"/>
            <a:r>
              <a:rPr lang="de-DE" dirty="0" err="1"/>
              <a:t>Results</a:t>
            </a:r>
            <a:endParaRPr lang="de-DE" dirty="0"/>
          </a:p>
        </p:txBody>
      </p:sp>
      <p:graphicFrame>
        <p:nvGraphicFramePr>
          <p:cNvPr id="6" name="Tabelle 5">
            <a:extLst>
              <a:ext uri="{FF2B5EF4-FFF2-40B4-BE49-F238E27FC236}">
                <a16:creationId xmlns:a16="http://schemas.microsoft.com/office/drawing/2014/main" id="{E0E1EBA9-5B5C-D9E2-17D9-628396CCAE83}"/>
              </a:ext>
            </a:extLst>
          </p:cNvPr>
          <p:cNvGraphicFramePr>
            <a:graphicFrameLocks noGrp="1"/>
          </p:cNvGraphicFramePr>
          <p:nvPr>
            <p:extLst>
              <p:ext uri="{D42A27DB-BD31-4B8C-83A1-F6EECF244321}">
                <p14:modId xmlns:p14="http://schemas.microsoft.com/office/powerpoint/2010/main" val="288754191"/>
              </p:ext>
            </p:extLst>
          </p:nvPr>
        </p:nvGraphicFramePr>
        <p:xfrm>
          <a:off x="2561046" y="1529560"/>
          <a:ext cx="8411754" cy="3199884"/>
        </p:xfrm>
        <a:graphic>
          <a:graphicData uri="http://schemas.openxmlformats.org/drawingml/2006/table">
            <a:tbl>
              <a:tblPr firstRow="1" bandRow="1">
                <a:tableStyleId>{5C22544A-7EE6-4342-B048-85BDC9FD1C3A}</a:tableStyleId>
              </a:tblPr>
              <a:tblGrid>
                <a:gridCol w="2803918">
                  <a:extLst>
                    <a:ext uri="{9D8B030D-6E8A-4147-A177-3AD203B41FA5}">
                      <a16:colId xmlns:a16="http://schemas.microsoft.com/office/drawing/2014/main" val="3969413928"/>
                    </a:ext>
                  </a:extLst>
                </a:gridCol>
                <a:gridCol w="3250542">
                  <a:extLst>
                    <a:ext uri="{9D8B030D-6E8A-4147-A177-3AD203B41FA5}">
                      <a16:colId xmlns:a16="http://schemas.microsoft.com/office/drawing/2014/main" val="3747705379"/>
                    </a:ext>
                  </a:extLst>
                </a:gridCol>
                <a:gridCol w="2357294">
                  <a:extLst>
                    <a:ext uri="{9D8B030D-6E8A-4147-A177-3AD203B41FA5}">
                      <a16:colId xmlns:a16="http://schemas.microsoft.com/office/drawing/2014/main" val="3648378356"/>
                    </a:ext>
                  </a:extLst>
                </a:gridCol>
              </a:tblGrid>
              <a:tr h="799971">
                <a:tc>
                  <a:txBody>
                    <a:bodyPr/>
                    <a:lstStyle/>
                    <a:p>
                      <a:pPr algn="l"/>
                      <a:r>
                        <a:rPr lang="de-AT" dirty="0">
                          <a:solidFill>
                            <a:schemeClr val="tx1"/>
                          </a:solidFill>
                        </a:rPr>
                        <a:t>Model Variant</a:t>
                      </a:r>
                    </a:p>
                  </a:txBody>
                  <a:tcPr anchor="ctr"/>
                </a:tc>
                <a:tc>
                  <a:txBody>
                    <a:bodyPr/>
                    <a:lstStyle/>
                    <a:p>
                      <a:pPr algn="l"/>
                      <a:r>
                        <a:rPr lang="de-AT" dirty="0" err="1">
                          <a:solidFill>
                            <a:schemeClr val="tx1"/>
                          </a:solidFill>
                        </a:rPr>
                        <a:t>Perplexity</a:t>
                      </a:r>
                      <a:r>
                        <a:rPr lang="de-AT" dirty="0">
                          <a:solidFill>
                            <a:schemeClr val="tx1"/>
                          </a:solidFill>
                        </a:rPr>
                        <a:t> (</a:t>
                      </a:r>
                      <a:r>
                        <a:rPr lang="de-AT" dirty="0" err="1">
                          <a:solidFill>
                            <a:schemeClr val="tx1"/>
                          </a:solidFill>
                        </a:rPr>
                        <a:t>lower</a:t>
                      </a:r>
                      <a:r>
                        <a:rPr lang="de-AT" dirty="0">
                          <a:solidFill>
                            <a:schemeClr val="tx1"/>
                          </a:solidFill>
                        </a:rPr>
                        <a:t> </a:t>
                      </a:r>
                      <a:r>
                        <a:rPr lang="de-AT" dirty="0" err="1">
                          <a:solidFill>
                            <a:schemeClr val="tx1"/>
                          </a:solidFill>
                        </a:rPr>
                        <a:t>is</a:t>
                      </a:r>
                      <a:r>
                        <a:rPr lang="de-AT" dirty="0">
                          <a:solidFill>
                            <a:schemeClr val="tx1"/>
                          </a:solidFill>
                        </a:rPr>
                        <a:t> </a:t>
                      </a:r>
                      <a:r>
                        <a:rPr lang="de-AT" dirty="0" err="1">
                          <a:solidFill>
                            <a:schemeClr val="tx1"/>
                          </a:solidFill>
                        </a:rPr>
                        <a:t>better</a:t>
                      </a:r>
                      <a:r>
                        <a:rPr lang="de-AT" dirty="0">
                          <a:solidFill>
                            <a:schemeClr val="tx1"/>
                          </a:solidFill>
                        </a:rPr>
                        <a:t>)</a:t>
                      </a:r>
                    </a:p>
                  </a:txBody>
                  <a:tcPr anchor="ctr"/>
                </a:tc>
                <a:tc>
                  <a:txBody>
                    <a:bodyPr/>
                    <a:lstStyle/>
                    <a:p>
                      <a:pPr algn="l"/>
                      <a:endParaRPr lang="de-AT" dirty="0">
                        <a:solidFill>
                          <a:schemeClr val="tx1"/>
                        </a:solidFill>
                      </a:endParaRPr>
                    </a:p>
                  </a:txBody>
                  <a:tcPr anchor="ctr"/>
                </a:tc>
                <a:extLst>
                  <a:ext uri="{0D108BD9-81ED-4DB2-BD59-A6C34878D82A}">
                    <a16:rowId xmlns:a16="http://schemas.microsoft.com/office/drawing/2014/main" val="229597958"/>
                  </a:ext>
                </a:extLst>
              </a:tr>
              <a:tr h="799971">
                <a:tc>
                  <a:txBody>
                    <a:bodyPr/>
                    <a:lstStyle/>
                    <a:p>
                      <a:pPr algn="l"/>
                      <a:r>
                        <a:rPr lang="de-AT" dirty="0">
                          <a:solidFill>
                            <a:schemeClr val="tx1"/>
                          </a:solidFill>
                        </a:rPr>
                        <a:t>Baseline (float32)</a:t>
                      </a:r>
                    </a:p>
                  </a:txBody>
                  <a:tcPr anchor="ctr"/>
                </a:tc>
                <a:tc>
                  <a:txBody>
                    <a:bodyPr/>
                    <a:lstStyle/>
                    <a:p>
                      <a:pPr algn="l"/>
                      <a:r>
                        <a:rPr lang="de-AT" dirty="0">
                          <a:solidFill>
                            <a:schemeClr val="accent6">
                              <a:lumMod val="75000"/>
                            </a:schemeClr>
                          </a:solidFill>
                        </a:rPr>
                        <a:t>2.76</a:t>
                      </a:r>
                    </a:p>
                  </a:txBody>
                  <a:tcPr anchor="ctr"/>
                </a:tc>
                <a:tc>
                  <a:txBody>
                    <a:bodyPr/>
                    <a:lstStyle/>
                    <a:p>
                      <a:pPr algn="l"/>
                      <a:endParaRPr lang="de-AT" dirty="0">
                        <a:solidFill>
                          <a:srgbClr val="C00000"/>
                        </a:solidFill>
                      </a:endParaRPr>
                    </a:p>
                  </a:txBody>
                  <a:tcPr anchor="ctr"/>
                </a:tc>
                <a:extLst>
                  <a:ext uri="{0D108BD9-81ED-4DB2-BD59-A6C34878D82A}">
                    <a16:rowId xmlns:a16="http://schemas.microsoft.com/office/drawing/2014/main" val="3001397675"/>
                  </a:ext>
                </a:extLst>
              </a:tr>
              <a:tr h="799971">
                <a:tc>
                  <a:txBody>
                    <a:bodyPr/>
                    <a:lstStyle/>
                    <a:p>
                      <a:pPr algn="l"/>
                      <a:r>
                        <a:rPr lang="de-AT" dirty="0">
                          <a:solidFill>
                            <a:schemeClr val="tx1"/>
                          </a:solidFill>
                        </a:rPr>
                        <a:t>Naive </a:t>
                      </a:r>
                      <a:r>
                        <a:rPr lang="de-AT" dirty="0" err="1">
                          <a:solidFill>
                            <a:schemeClr val="tx1"/>
                          </a:solidFill>
                        </a:rPr>
                        <a:t>Quantization</a:t>
                      </a:r>
                      <a:r>
                        <a:rPr lang="de-AT" dirty="0">
                          <a:solidFill>
                            <a:schemeClr val="tx1"/>
                          </a:solidFill>
                        </a:rPr>
                        <a:t> (int8)</a:t>
                      </a:r>
                    </a:p>
                  </a:txBody>
                  <a:tcPr anchor="ctr"/>
                </a:tc>
                <a:tc>
                  <a:txBody>
                    <a:bodyPr/>
                    <a:lstStyle/>
                    <a:p>
                      <a:pPr algn="l"/>
                      <a:r>
                        <a:rPr lang="de-AT" dirty="0">
                          <a:solidFill>
                            <a:srgbClr val="C00000"/>
                          </a:solidFill>
                        </a:rPr>
                        <a:t>2.78</a:t>
                      </a:r>
                    </a:p>
                  </a:txBody>
                  <a:tcPr anchor="ctr"/>
                </a:tc>
                <a:tc>
                  <a:txBody>
                    <a:bodyPr/>
                    <a:lstStyle/>
                    <a:p>
                      <a:pPr algn="l"/>
                      <a:endParaRPr lang="de-AT" dirty="0">
                        <a:solidFill>
                          <a:schemeClr val="accent6">
                            <a:lumMod val="75000"/>
                          </a:schemeClr>
                        </a:solidFill>
                      </a:endParaRPr>
                    </a:p>
                  </a:txBody>
                  <a:tcPr anchor="ctr"/>
                </a:tc>
                <a:extLst>
                  <a:ext uri="{0D108BD9-81ED-4DB2-BD59-A6C34878D82A}">
                    <a16:rowId xmlns:a16="http://schemas.microsoft.com/office/drawing/2014/main" val="1022930641"/>
                  </a:ext>
                </a:extLst>
              </a:tr>
              <a:tr h="799971">
                <a:tc>
                  <a:txBody>
                    <a:bodyPr/>
                    <a:lstStyle/>
                    <a:p>
                      <a:pPr algn="l"/>
                      <a:r>
                        <a:rPr lang="de-AT" dirty="0">
                          <a:solidFill>
                            <a:schemeClr val="tx1"/>
                          </a:solidFill>
                        </a:rPr>
                        <a:t>GPTQ (int8)</a:t>
                      </a:r>
                    </a:p>
                  </a:txBody>
                  <a:tcPr anchor="ctr"/>
                </a:tc>
                <a:tc>
                  <a:txBody>
                    <a:bodyPr/>
                    <a:lstStyle/>
                    <a:p>
                      <a:pPr algn="l"/>
                      <a:r>
                        <a:rPr lang="de-AT" dirty="0">
                          <a:solidFill>
                            <a:schemeClr val="accent6">
                              <a:lumMod val="75000"/>
                            </a:schemeClr>
                          </a:solidFill>
                        </a:rPr>
                        <a:t>2.76</a:t>
                      </a:r>
                    </a:p>
                  </a:txBody>
                  <a:tcPr anchor="ctr"/>
                </a:tc>
                <a:tc>
                  <a:txBody>
                    <a:bodyPr/>
                    <a:lstStyle/>
                    <a:p>
                      <a:pPr algn="l"/>
                      <a:endParaRPr lang="de-AT" dirty="0">
                        <a:solidFill>
                          <a:schemeClr val="accent6">
                            <a:lumMod val="75000"/>
                          </a:schemeClr>
                        </a:solidFill>
                      </a:endParaRPr>
                    </a:p>
                  </a:txBody>
                  <a:tcPr anchor="ctr"/>
                </a:tc>
                <a:extLst>
                  <a:ext uri="{0D108BD9-81ED-4DB2-BD59-A6C34878D82A}">
                    <a16:rowId xmlns:a16="http://schemas.microsoft.com/office/drawing/2014/main" val="2095179141"/>
                  </a:ext>
                </a:extLst>
              </a:tr>
            </a:tbl>
          </a:graphicData>
        </a:graphic>
      </p:graphicFrame>
      <p:sp>
        <p:nvSpPr>
          <p:cNvPr id="3" name="PB">
            <a:extLst>
              <a:ext uri="{FF2B5EF4-FFF2-40B4-BE49-F238E27FC236}">
                <a16:creationId xmlns:a16="http://schemas.microsoft.com/office/drawing/2014/main" id="{B41BE973-42CB-2059-EB28-1129C840A4D1}"/>
              </a:ext>
            </a:extLst>
          </p:cNvPr>
          <p:cNvSpPr/>
          <p:nvPr/>
        </p:nvSpPr>
        <p:spPr>
          <a:xfrm>
            <a:off x="0" y="6756400"/>
            <a:ext cx="7837715"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4009078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D9846-BDA0-98D3-2271-772D57BD7AA1}"/>
            </a:ext>
          </a:extLst>
        </p:cNvPr>
        <p:cNvGrpSpPr/>
        <p:nvPr/>
      </p:nvGrpSpPr>
      <p:grpSpPr>
        <a:xfrm>
          <a:off x="0" y="0"/>
          <a:ext cx="0" cy="0"/>
          <a:chOff x="0" y="0"/>
          <a:chExt cx="0" cy="0"/>
        </a:xfrm>
      </p:grpSpPr>
      <p:sp>
        <p:nvSpPr>
          <p:cNvPr id="16" name="Titel 1">
            <a:extLst>
              <a:ext uri="{FF2B5EF4-FFF2-40B4-BE49-F238E27FC236}">
                <a16:creationId xmlns:a16="http://schemas.microsoft.com/office/drawing/2014/main" id="{C613510E-925B-8532-8B02-A525CBA5E93D}"/>
              </a:ext>
            </a:extLst>
          </p:cNvPr>
          <p:cNvSpPr>
            <a:spLocks noGrp="1"/>
          </p:cNvSpPr>
          <p:nvPr>
            <p:ph type="title"/>
          </p:nvPr>
        </p:nvSpPr>
        <p:spPr>
          <a:xfrm>
            <a:off x="2699083" y="352103"/>
            <a:ext cx="6878217" cy="653321"/>
          </a:xfrm>
        </p:spPr>
        <p:txBody>
          <a:bodyPr rtlCol="0" anchor="b">
            <a:noAutofit/>
          </a:bodyPr>
          <a:lstStyle>
            <a:defPPr>
              <a:defRPr lang="de-DE"/>
            </a:defPPr>
          </a:lstStyle>
          <a:p>
            <a:pPr rtl="0"/>
            <a:r>
              <a:rPr lang="de-DE" dirty="0" err="1"/>
              <a:t>Results</a:t>
            </a:r>
            <a:endParaRPr lang="de-DE" dirty="0"/>
          </a:p>
        </p:txBody>
      </p:sp>
      <p:graphicFrame>
        <p:nvGraphicFramePr>
          <p:cNvPr id="6" name="Tabelle 5">
            <a:extLst>
              <a:ext uri="{FF2B5EF4-FFF2-40B4-BE49-F238E27FC236}">
                <a16:creationId xmlns:a16="http://schemas.microsoft.com/office/drawing/2014/main" id="{03E991BE-AC5C-71E3-3848-F8F3315293ED}"/>
              </a:ext>
            </a:extLst>
          </p:cNvPr>
          <p:cNvGraphicFramePr>
            <a:graphicFrameLocks noGrp="1"/>
          </p:cNvGraphicFramePr>
          <p:nvPr>
            <p:extLst>
              <p:ext uri="{D42A27DB-BD31-4B8C-83A1-F6EECF244321}">
                <p14:modId xmlns:p14="http://schemas.microsoft.com/office/powerpoint/2010/main" val="3866494795"/>
              </p:ext>
            </p:extLst>
          </p:nvPr>
        </p:nvGraphicFramePr>
        <p:xfrm>
          <a:off x="2561046" y="1529560"/>
          <a:ext cx="8411754" cy="3199884"/>
        </p:xfrm>
        <a:graphic>
          <a:graphicData uri="http://schemas.openxmlformats.org/drawingml/2006/table">
            <a:tbl>
              <a:tblPr firstRow="1" bandRow="1">
                <a:tableStyleId>{5C22544A-7EE6-4342-B048-85BDC9FD1C3A}</a:tableStyleId>
              </a:tblPr>
              <a:tblGrid>
                <a:gridCol w="2803918">
                  <a:extLst>
                    <a:ext uri="{9D8B030D-6E8A-4147-A177-3AD203B41FA5}">
                      <a16:colId xmlns:a16="http://schemas.microsoft.com/office/drawing/2014/main" val="3969413928"/>
                    </a:ext>
                  </a:extLst>
                </a:gridCol>
                <a:gridCol w="3250542">
                  <a:extLst>
                    <a:ext uri="{9D8B030D-6E8A-4147-A177-3AD203B41FA5}">
                      <a16:colId xmlns:a16="http://schemas.microsoft.com/office/drawing/2014/main" val="3747705379"/>
                    </a:ext>
                  </a:extLst>
                </a:gridCol>
                <a:gridCol w="2357294">
                  <a:extLst>
                    <a:ext uri="{9D8B030D-6E8A-4147-A177-3AD203B41FA5}">
                      <a16:colId xmlns:a16="http://schemas.microsoft.com/office/drawing/2014/main" val="3648378356"/>
                    </a:ext>
                  </a:extLst>
                </a:gridCol>
              </a:tblGrid>
              <a:tr h="799971">
                <a:tc>
                  <a:txBody>
                    <a:bodyPr/>
                    <a:lstStyle/>
                    <a:p>
                      <a:pPr algn="l"/>
                      <a:r>
                        <a:rPr lang="de-AT" dirty="0">
                          <a:solidFill>
                            <a:schemeClr val="tx1"/>
                          </a:solidFill>
                        </a:rPr>
                        <a:t>Model Variant</a:t>
                      </a:r>
                    </a:p>
                  </a:txBody>
                  <a:tcPr anchor="ctr"/>
                </a:tc>
                <a:tc>
                  <a:txBody>
                    <a:bodyPr/>
                    <a:lstStyle/>
                    <a:p>
                      <a:pPr algn="l"/>
                      <a:r>
                        <a:rPr lang="de-AT" dirty="0" err="1">
                          <a:solidFill>
                            <a:schemeClr val="tx1"/>
                          </a:solidFill>
                        </a:rPr>
                        <a:t>Perplexity</a:t>
                      </a:r>
                      <a:r>
                        <a:rPr lang="de-AT" dirty="0">
                          <a:solidFill>
                            <a:schemeClr val="tx1"/>
                          </a:solidFill>
                        </a:rPr>
                        <a:t> (</a:t>
                      </a:r>
                      <a:r>
                        <a:rPr lang="de-AT" dirty="0" err="1">
                          <a:solidFill>
                            <a:schemeClr val="tx1"/>
                          </a:solidFill>
                        </a:rPr>
                        <a:t>lower</a:t>
                      </a:r>
                      <a:r>
                        <a:rPr lang="de-AT" dirty="0">
                          <a:solidFill>
                            <a:schemeClr val="tx1"/>
                          </a:solidFill>
                        </a:rPr>
                        <a:t> </a:t>
                      </a:r>
                      <a:r>
                        <a:rPr lang="de-AT" dirty="0" err="1">
                          <a:solidFill>
                            <a:schemeClr val="tx1"/>
                          </a:solidFill>
                        </a:rPr>
                        <a:t>is</a:t>
                      </a:r>
                      <a:r>
                        <a:rPr lang="de-AT" dirty="0">
                          <a:solidFill>
                            <a:schemeClr val="tx1"/>
                          </a:solidFill>
                        </a:rPr>
                        <a:t> </a:t>
                      </a:r>
                      <a:r>
                        <a:rPr lang="de-AT" dirty="0" err="1">
                          <a:solidFill>
                            <a:schemeClr val="tx1"/>
                          </a:solidFill>
                        </a:rPr>
                        <a:t>better</a:t>
                      </a:r>
                      <a:r>
                        <a:rPr lang="de-AT" dirty="0">
                          <a:solidFill>
                            <a:schemeClr val="tx1"/>
                          </a:solidFill>
                        </a:rPr>
                        <a:t>)</a:t>
                      </a:r>
                    </a:p>
                  </a:txBody>
                  <a:tcPr anchor="ctr"/>
                </a:tc>
                <a:tc>
                  <a:txBody>
                    <a:bodyPr/>
                    <a:lstStyle/>
                    <a:p>
                      <a:pPr algn="l"/>
                      <a:r>
                        <a:rPr lang="de-AT" dirty="0">
                          <a:solidFill>
                            <a:schemeClr val="tx1"/>
                          </a:solidFill>
                        </a:rPr>
                        <a:t>Model </a:t>
                      </a:r>
                      <a:r>
                        <a:rPr lang="de-AT" dirty="0" err="1">
                          <a:solidFill>
                            <a:schemeClr val="tx1"/>
                          </a:solidFill>
                        </a:rPr>
                        <a:t>size</a:t>
                      </a:r>
                      <a:r>
                        <a:rPr lang="de-AT" dirty="0">
                          <a:solidFill>
                            <a:schemeClr val="tx1"/>
                          </a:solidFill>
                        </a:rPr>
                        <a:t> </a:t>
                      </a:r>
                    </a:p>
                  </a:txBody>
                  <a:tcPr anchor="ctr"/>
                </a:tc>
                <a:extLst>
                  <a:ext uri="{0D108BD9-81ED-4DB2-BD59-A6C34878D82A}">
                    <a16:rowId xmlns:a16="http://schemas.microsoft.com/office/drawing/2014/main" val="229597958"/>
                  </a:ext>
                </a:extLst>
              </a:tr>
              <a:tr h="799971">
                <a:tc>
                  <a:txBody>
                    <a:bodyPr/>
                    <a:lstStyle/>
                    <a:p>
                      <a:pPr algn="l"/>
                      <a:r>
                        <a:rPr lang="de-AT" dirty="0">
                          <a:solidFill>
                            <a:schemeClr val="tx1"/>
                          </a:solidFill>
                        </a:rPr>
                        <a:t>Baseline (float32)</a:t>
                      </a:r>
                    </a:p>
                  </a:txBody>
                  <a:tcPr anchor="ctr"/>
                </a:tc>
                <a:tc>
                  <a:txBody>
                    <a:bodyPr/>
                    <a:lstStyle/>
                    <a:p>
                      <a:pPr algn="l"/>
                      <a:r>
                        <a:rPr lang="de-AT" dirty="0">
                          <a:solidFill>
                            <a:schemeClr val="accent6">
                              <a:lumMod val="75000"/>
                            </a:schemeClr>
                          </a:solidFill>
                        </a:rPr>
                        <a:t>2.76</a:t>
                      </a:r>
                    </a:p>
                  </a:txBody>
                  <a:tcPr anchor="ctr"/>
                </a:tc>
                <a:tc>
                  <a:txBody>
                    <a:bodyPr/>
                    <a:lstStyle/>
                    <a:p>
                      <a:pPr algn="l"/>
                      <a:r>
                        <a:rPr lang="de-AT" dirty="0">
                          <a:solidFill>
                            <a:srgbClr val="C00000"/>
                          </a:solidFill>
                        </a:rPr>
                        <a:t>31.9 MB</a:t>
                      </a:r>
                    </a:p>
                  </a:txBody>
                  <a:tcPr anchor="ctr"/>
                </a:tc>
                <a:extLst>
                  <a:ext uri="{0D108BD9-81ED-4DB2-BD59-A6C34878D82A}">
                    <a16:rowId xmlns:a16="http://schemas.microsoft.com/office/drawing/2014/main" val="3001397675"/>
                  </a:ext>
                </a:extLst>
              </a:tr>
              <a:tr h="799971">
                <a:tc>
                  <a:txBody>
                    <a:bodyPr/>
                    <a:lstStyle/>
                    <a:p>
                      <a:pPr algn="l"/>
                      <a:r>
                        <a:rPr lang="de-AT" dirty="0">
                          <a:solidFill>
                            <a:schemeClr val="tx1"/>
                          </a:solidFill>
                        </a:rPr>
                        <a:t>Naive </a:t>
                      </a:r>
                      <a:r>
                        <a:rPr lang="de-AT" dirty="0" err="1">
                          <a:solidFill>
                            <a:schemeClr val="tx1"/>
                          </a:solidFill>
                        </a:rPr>
                        <a:t>Quantization</a:t>
                      </a:r>
                      <a:r>
                        <a:rPr lang="de-AT" dirty="0">
                          <a:solidFill>
                            <a:schemeClr val="tx1"/>
                          </a:solidFill>
                        </a:rPr>
                        <a:t> (int8)</a:t>
                      </a:r>
                    </a:p>
                  </a:txBody>
                  <a:tcPr anchor="ctr"/>
                </a:tc>
                <a:tc>
                  <a:txBody>
                    <a:bodyPr/>
                    <a:lstStyle/>
                    <a:p>
                      <a:pPr algn="l"/>
                      <a:r>
                        <a:rPr lang="de-AT" dirty="0">
                          <a:solidFill>
                            <a:srgbClr val="C00000"/>
                          </a:solidFill>
                        </a:rPr>
                        <a:t>2.78</a:t>
                      </a:r>
                    </a:p>
                  </a:txBody>
                  <a:tcPr anchor="ctr"/>
                </a:tc>
                <a:tc>
                  <a:txBody>
                    <a:bodyPr/>
                    <a:lstStyle/>
                    <a:p>
                      <a:pPr algn="l"/>
                      <a:r>
                        <a:rPr lang="de-AT" dirty="0">
                          <a:solidFill>
                            <a:schemeClr val="accent6">
                              <a:lumMod val="75000"/>
                            </a:schemeClr>
                          </a:solidFill>
                        </a:rPr>
                        <a:t>2.9 MB</a:t>
                      </a:r>
                    </a:p>
                  </a:txBody>
                  <a:tcPr anchor="ctr"/>
                </a:tc>
                <a:extLst>
                  <a:ext uri="{0D108BD9-81ED-4DB2-BD59-A6C34878D82A}">
                    <a16:rowId xmlns:a16="http://schemas.microsoft.com/office/drawing/2014/main" val="1022930641"/>
                  </a:ext>
                </a:extLst>
              </a:tr>
              <a:tr h="799971">
                <a:tc>
                  <a:txBody>
                    <a:bodyPr/>
                    <a:lstStyle/>
                    <a:p>
                      <a:pPr algn="l"/>
                      <a:r>
                        <a:rPr lang="de-AT" dirty="0">
                          <a:solidFill>
                            <a:schemeClr val="tx1"/>
                          </a:solidFill>
                        </a:rPr>
                        <a:t>GPTQ (int8)</a:t>
                      </a:r>
                    </a:p>
                  </a:txBody>
                  <a:tcPr anchor="ctr"/>
                </a:tc>
                <a:tc>
                  <a:txBody>
                    <a:bodyPr/>
                    <a:lstStyle/>
                    <a:p>
                      <a:pPr algn="l"/>
                      <a:r>
                        <a:rPr lang="de-AT" dirty="0">
                          <a:solidFill>
                            <a:schemeClr val="accent6">
                              <a:lumMod val="75000"/>
                            </a:schemeClr>
                          </a:solidFill>
                        </a:rPr>
                        <a:t>2.76</a:t>
                      </a:r>
                    </a:p>
                  </a:txBody>
                  <a:tcPr anchor="ctr"/>
                </a:tc>
                <a:tc>
                  <a:txBody>
                    <a:bodyPr/>
                    <a:lstStyle/>
                    <a:p>
                      <a:pPr algn="l"/>
                      <a:r>
                        <a:rPr lang="de-AT" dirty="0">
                          <a:solidFill>
                            <a:schemeClr val="accent6">
                              <a:lumMod val="75000"/>
                            </a:schemeClr>
                          </a:solidFill>
                        </a:rPr>
                        <a:t>2.9 MB</a:t>
                      </a:r>
                    </a:p>
                  </a:txBody>
                  <a:tcPr anchor="ctr"/>
                </a:tc>
                <a:extLst>
                  <a:ext uri="{0D108BD9-81ED-4DB2-BD59-A6C34878D82A}">
                    <a16:rowId xmlns:a16="http://schemas.microsoft.com/office/drawing/2014/main" val="2095179141"/>
                  </a:ext>
                </a:extLst>
              </a:tr>
            </a:tbl>
          </a:graphicData>
        </a:graphic>
      </p:graphicFrame>
      <p:sp>
        <p:nvSpPr>
          <p:cNvPr id="3" name="PB">
            <a:extLst>
              <a:ext uri="{FF2B5EF4-FFF2-40B4-BE49-F238E27FC236}">
                <a16:creationId xmlns:a16="http://schemas.microsoft.com/office/drawing/2014/main" id="{8E0D94B2-6F55-2E67-62B3-E7444FEC8F71}"/>
              </a:ext>
            </a:extLst>
          </p:cNvPr>
          <p:cNvSpPr/>
          <p:nvPr/>
        </p:nvSpPr>
        <p:spPr>
          <a:xfrm>
            <a:off x="0" y="6756400"/>
            <a:ext cx="8708572"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751214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86F20-E165-85BF-DD8E-623DB0173D49}"/>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095A912F-E62E-BCA9-7AA6-1BCBB3A17BB0}"/>
              </a:ext>
            </a:extLst>
          </p:cNvPr>
          <p:cNvSpPr>
            <a:spLocks noGrp="1"/>
          </p:cNvSpPr>
          <p:nvPr>
            <p:ph type="title"/>
          </p:nvPr>
        </p:nvSpPr>
        <p:spPr>
          <a:xfrm>
            <a:off x="597647" y="457073"/>
            <a:ext cx="5655197" cy="548351"/>
          </a:xfrm>
        </p:spPr>
        <p:txBody>
          <a:bodyPr/>
          <a:lstStyle/>
          <a:p>
            <a:r>
              <a:rPr lang="de-AT" dirty="0"/>
              <a:t>Demonstration</a:t>
            </a:r>
          </a:p>
        </p:txBody>
      </p:sp>
      <p:pic>
        <p:nvPicPr>
          <p:cNvPr id="9" name="Grafik 8" descr="Ein Bild, das Text, Screenshot enthält.&#10;&#10;KI-generierte Inhalte können fehlerhaft sein.">
            <a:extLst>
              <a:ext uri="{FF2B5EF4-FFF2-40B4-BE49-F238E27FC236}">
                <a16:creationId xmlns:a16="http://schemas.microsoft.com/office/drawing/2014/main" id="{F0AC5537-8BBD-6989-15DF-4A9FA8DF4201}"/>
              </a:ext>
            </a:extLst>
          </p:cNvPr>
          <p:cNvPicPr>
            <a:picLocks noChangeAspect="1"/>
          </p:cNvPicPr>
          <p:nvPr/>
        </p:nvPicPr>
        <p:blipFill>
          <a:blip r:embed="rId3"/>
          <a:stretch>
            <a:fillRect/>
          </a:stretch>
        </p:blipFill>
        <p:spPr>
          <a:xfrm>
            <a:off x="1862921" y="1005424"/>
            <a:ext cx="7809986" cy="5581652"/>
          </a:xfrm>
          <a:prstGeom prst="rect">
            <a:avLst/>
          </a:prstGeom>
        </p:spPr>
      </p:pic>
      <p:sp>
        <p:nvSpPr>
          <p:cNvPr id="3" name="PB">
            <a:extLst>
              <a:ext uri="{FF2B5EF4-FFF2-40B4-BE49-F238E27FC236}">
                <a16:creationId xmlns:a16="http://schemas.microsoft.com/office/drawing/2014/main" id="{5507936B-C0A4-E78A-3E73-6920CA9706DB}"/>
              </a:ext>
            </a:extLst>
          </p:cNvPr>
          <p:cNvSpPr/>
          <p:nvPr/>
        </p:nvSpPr>
        <p:spPr>
          <a:xfrm>
            <a:off x="0" y="6756400"/>
            <a:ext cx="9579428"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17652475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A628-28A5-21F6-A205-9762BBB8603E}"/>
            </a:ext>
          </a:extLst>
        </p:cNvPr>
        <p:cNvGrpSpPr/>
        <p:nvPr/>
      </p:nvGrpSpPr>
      <p:grpSpPr>
        <a:xfrm>
          <a:off x="0" y="0"/>
          <a:ext cx="0" cy="0"/>
          <a:chOff x="0" y="0"/>
          <a:chExt cx="0" cy="0"/>
        </a:xfrm>
      </p:grpSpPr>
      <p:sp>
        <p:nvSpPr>
          <p:cNvPr id="16" name="Titel 1">
            <a:extLst>
              <a:ext uri="{FF2B5EF4-FFF2-40B4-BE49-F238E27FC236}">
                <a16:creationId xmlns:a16="http://schemas.microsoft.com/office/drawing/2014/main" id="{1163A853-63BB-C308-7054-6BA45BCCD398}"/>
              </a:ext>
            </a:extLst>
          </p:cNvPr>
          <p:cNvSpPr>
            <a:spLocks noGrp="1"/>
          </p:cNvSpPr>
          <p:nvPr>
            <p:ph type="title"/>
          </p:nvPr>
        </p:nvSpPr>
        <p:spPr>
          <a:xfrm>
            <a:off x="2699083" y="352103"/>
            <a:ext cx="6878217" cy="653321"/>
          </a:xfrm>
        </p:spPr>
        <p:txBody>
          <a:bodyPr rtlCol="0" anchor="b">
            <a:noAutofit/>
          </a:bodyPr>
          <a:lstStyle>
            <a:defPPr>
              <a:defRPr lang="de-DE"/>
            </a:defPPr>
          </a:lstStyle>
          <a:p>
            <a:pPr rtl="0"/>
            <a:r>
              <a:rPr lang="de-DE" dirty="0" err="1"/>
              <a:t>Insights</a:t>
            </a:r>
            <a:endParaRPr lang="de-DE" dirty="0"/>
          </a:p>
        </p:txBody>
      </p:sp>
      <p:sp>
        <p:nvSpPr>
          <p:cNvPr id="17" name="Inhaltsplatzhalter 3">
            <a:extLst>
              <a:ext uri="{FF2B5EF4-FFF2-40B4-BE49-F238E27FC236}">
                <a16:creationId xmlns:a16="http://schemas.microsoft.com/office/drawing/2014/main" id="{A090E476-4FEE-9F09-B244-4F0B8B7D8F47}"/>
              </a:ext>
            </a:extLst>
          </p:cNvPr>
          <p:cNvSpPr txBox="1">
            <a:spLocks/>
          </p:cNvSpPr>
          <p:nvPr/>
        </p:nvSpPr>
        <p:spPr>
          <a:xfrm>
            <a:off x="2699083" y="1005423"/>
            <a:ext cx="8337512" cy="3102846"/>
          </a:xfrm>
          <a:prstGeom prst="rect">
            <a:avLst/>
          </a:prstGeom>
        </p:spPr>
        <p:txBody>
          <a:bodyPr rtlCol="0">
            <a:noAutofit/>
          </a:bodyPr>
          <a:lstStyle>
            <a:defPPr>
              <a:defRPr lang="de-DE"/>
            </a:defPPr>
            <a:lvl1pPr marL="228600" indent="-228600" algn="l" defTabSz="914400" rtl="0" eaLnBrk="1" latinLnBrk="0" hangingPunct="1">
              <a:lnSpc>
                <a:spcPct val="90000"/>
              </a:lnSpc>
              <a:spcBef>
                <a:spcPts val="1000"/>
              </a:spcBef>
              <a:buFont typeface="Arial" panose="020B0604020202020204" pitchFamily="34" charset="0"/>
              <a:buChar char="•"/>
              <a:defRPr lang="de-DE"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en-US" sz="2400" dirty="0"/>
              <a:t>Re-implementing </a:t>
            </a:r>
            <a:r>
              <a:rPr lang="en-US" sz="2400" dirty="0" err="1"/>
              <a:t>NanoGPT</a:t>
            </a:r>
            <a:r>
              <a:rPr lang="en-US" sz="2400" dirty="0"/>
              <a:t> was difficult but insightful</a:t>
            </a:r>
          </a:p>
          <a:p>
            <a:r>
              <a:rPr lang="en-US" sz="2400" dirty="0"/>
              <a:t>Good exercise for anyone wanting to understand autoregressive transformers</a:t>
            </a:r>
          </a:p>
          <a:p>
            <a:endParaRPr lang="en-US" sz="2400" dirty="0"/>
          </a:p>
          <a:p>
            <a:endParaRPr lang="en-US" sz="2400" dirty="0"/>
          </a:p>
        </p:txBody>
      </p:sp>
      <p:pic>
        <p:nvPicPr>
          <p:cNvPr id="3074" name="Picture 2" descr="NVIDIA GeForce GTX 960M - Notebookcheck.com Technik/FAQ">
            <a:extLst>
              <a:ext uri="{FF2B5EF4-FFF2-40B4-BE49-F238E27FC236}">
                <a16:creationId xmlns:a16="http://schemas.microsoft.com/office/drawing/2014/main" id="{73472175-CB9C-C767-8F59-4FED6589B5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8098" y="4108269"/>
            <a:ext cx="3064835" cy="177760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artoon Fire Vector Art, Icons, and Graphics for Free Download">
            <a:extLst>
              <a:ext uri="{FF2B5EF4-FFF2-40B4-BE49-F238E27FC236}">
                <a16:creationId xmlns:a16="http://schemas.microsoft.com/office/drawing/2014/main" id="{FAC120C3-4FE4-0E4B-8B59-69BA0296DC6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645" t="17628" r="7794" b="20499"/>
          <a:stretch>
            <a:fillRect/>
          </a:stretch>
        </p:blipFill>
        <p:spPr bwMode="auto">
          <a:xfrm>
            <a:off x="4708098" y="5885873"/>
            <a:ext cx="3064835" cy="572930"/>
          </a:xfrm>
          <a:prstGeom prst="rect">
            <a:avLst/>
          </a:prstGeom>
          <a:noFill/>
          <a:extLst>
            <a:ext uri="{909E8E84-426E-40DD-AFC4-6F175D3DCCD1}">
              <a14:hiddenFill xmlns:a14="http://schemas.microsoft.com/office/drawing/2010/main">
                <a:solidFill>
                  <a:srgbClr val="FFFFFF"/>
                </a:solidFill>
              </a14:hiddenFill>
            </a:ext>
          </a:extLst>
        </p:spPr>
      </p:pic>
      <p:sp>
        <p:nvSpPr>
          <p:cNvPr id="3" name="PB">
            <a:extLst>
              <a:ext uri="{FF2B5EF4-FFF2-40B4-BE49-F238E27FC236}">
                <a16:creationId xmlns:a16="http://schemas.microsoft.com/office/drawing/2014/main" id="{EF5C8D44-9D26-366C-7C45-40B2B0476DC7}"/>
              </a:ext>
            </a:extLst>
          </p:cNvPr>
          <p:cNvSpPr/>
          <p:nvPr/>
        </p:nvSpPr>
        <p:spPr>
          <a:xfrm>
            <a:off x="0" y="6756400"/>
            <a:ext cx="10450285"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328067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005F1-AFE1-9F3C-A7A2-A984BFA07883}"/>
            </a:ext>
          </a:extLst>
        </p:cNvPr>
        <p:cNvGrpSpPr/>
        <p:nvPr/>
      </p:nvGrpSpPr>
      <p:grpSpPr>
        <a:xfrm>
          <a:off x="0" y="0"/>
          <a:ext cx="0" cy="0"/>
          <a:chOff x="0" y="0"/>
          <a:chExt cx="0" cy="0"/>
        </a:xfrm>
      </p:grpSpPr>
      <p:sp>
        <p:nvSpPr>
          <p:cNvPr id="16" name="Titel 1">
            <a:extLst>
              <a:ext uri="{FF2B5EF4-FFF2-40B4-BE49-F238E27FC236}">
                <a16:creationId xmlns:a16="http://schemas.microsoft.com/office/drawing/2014/main" id="{A37F89BF-D9DA-6772-82E6-4F069B0CA42B}"/>
              </a:ext>
            </a:extLst>
          </p:cNvPr>
          <p:cNvSpPr>
            <a:spLocks noGrp="1"/>
          </p:cNvSpPr>
          <p:nvPr>
            <p:ph type="title"/>
          </p:nvPr>
        </p:nvSpPr>
        <p:spPr>
          <a:xfrm>
            <a:off x="2699083" y="352103"/>
            <a:ext cx="6878217" cy="653321"/>
          </a:xfrm>
        </p:spPr>
        <p:txBody>
          <a:bodyPr rtlCol="0" anchor="b">
            <a:noAutofit/>
          </a:bodyPr>
          <a:lstStyle>
            <a:defPPr>
              <a:defRPr lang="de-DE"/>
            </a:defPPr>
          </a:lstStyle>
          <a:p>
            <a:pPr rtl="0"/>
            <a:r>
              <a:rPr lang="de-DE" dirty="0" err="1"/>
              <a:t>Insights</a:t>
            </a:r>
            <a:endParaRPr lang="de-DE" dirty="0"/>
          </a:p>
        </p:txBody>
      </p:sp>
      <p:sp>
        <p:nvSpPr>
          <p:cNvPr id="17" name="Inhaltsplatzhalter 3">
            <a:extLst>
              <a:ext uri="{FF2B5EF4-FFF2-40B4-BE49-F238E27FC236}">
                <a16:creationId xmlns:a16="http://schemas.microsoft.com/office/drawing/2014/main" id="{896CF8DC-F439-115F-93F6-E7AE25B6E03C}"/>
              </a:ext>
            </a:extLst>
          </p:cNvPr>
          <p:cNvSpPr txBox="1">
            <a:spLocks/>
          </p:cNvSpPr>
          <p:nvPr/>
        </p:nvSpPr>
        <p:spPr>
          <a:xfrm>
            <a:off x="2699083" y="1005423"/>
            <a:ext cx="8337512" cy="3102846"/>
          </a:xfrm>
          <a:prstGeom prst="rect">
            <a:avLst/>
          </a:prstGeom>
        </p:spPr>
        <p:txBody>
          <a:bodyPr rtlCol="0">
            <a:noAutofit/>
          </a:bodyPr>
          <a:lstStyle>
            <a:defPPr>
              <a:defRPr lang="de-DE"/>
            </a:defPPr>
            <a:lvl1pPr marL="228600" indent="-228600" algn="l" defTabSz="914400" rtl="0" eaLnBrk="1" latinLnBrk="0" hangingPunct="1">
              <a:lnSpc>
                <a:spcPct val="90000"/>
              </a:lnSpc>
              <a:spcBef>
                <a:spcPts val="1000"/>
              </a:spcBef>
              <a:buFont typeface="Arial" panose="020B0604020202020204" pitchFamily="34" charset="0"/>
              <a:buChar char="•"/>
              <a:defRPr lang="de-DE"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de-DE"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de-DE"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de-DE" sz="1800" kern="1200">
                <a:solidFill>
                  <a:schemeClr val="tx1"/>
                </a:solidFill>
                <a:latin typeface="+mn-lt"/>
                <a:ea typeface="+mn-ea"/>
                <a:cs typeface="+mn-cs"/>
              </a:defRPr>
            </a:lvl9pPr>
          </a:lstStyle>
          <a:p>
            <a:r>
              <a:rPr lang="en-US" sz="2400" dirty="0"/>
              <a:t>Re-implementing </a:t>
            </a:r>
            <a:r>
              <a:rPr lang="en-US" sz="2400" dirty="0" err="1"/>
              <a:t>NanoGPT</a:t>
            </a:r>
            <a:r>
              <a:rPr lang="en-US" sz="2400" dirty="0"/>
              <a:t> was difficult but insightful</a:t>
            </a:r>
          </a:p>
          <a:p>
            <a:r>
              <a:rPr lang="en-US" sz="2400" dirty="0"/>
              <a:t>Good exercise for anyone wanting to understand autoregressive transformers</a:t>
            </a:r>
          </a:p>
          <a:p>
            <a:endParaRPr lang="en-US" sz="2400" dirty="0"/>
          </a:p>
          <a:p>
            <a:r>
              <a:rPr lang="en-US" sz="2400" dirty="0"/>
              <a:t>Training a 2-3 M parameter model on a tiny notebook GPU was also difficult but insightful</a:t>
            </a:r>
          </a:p>
          <a:p>
            <a:r>
              <a:rPr lang="en-US" sz="2400" dirty="0"/>
              <a:t>Learned how to manage and balance expensive training runs</a:t>
            </a:r>
          </a:p>
          <a:p>
            <a:endParaRPr lang="en-US" sz="2400" dirty="0"/>
          </a:p>
        </p:txBody>
      </p:sp>
      <p:pic>
        <p:nvPicPr>
          <p:cNvPr id="3074" name="Picture 2" descr="NVIDIA GeForce GTX 960M - Notebookcheck.com Technik/FAQ">
            <a:extLst>
              <a:ext uri="{FF2B5EF4-FFF2-40B4-BE49-F238E27FC236}">
                <a16:creationId xmlns:a16="http://schemas.microsoft.com/office/drawing/2014/main" id="{41A92394-7163-46D3-3ADD-6FE4C5F6F0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8098" y="4108269"/>
            <a:ext cx="3064835" cy="177760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artoon Fire Vector Art, Icons, and Graphics for Free Download">
            <a:extLst>
              <a:ext uri="{FF2B5EF4-FFF2-40B4-BE49-F238E27FC236}">
                <a16:creationId xmlns:a16="http://schemas.microsoft.com/office/drawing/2014/main" id="{69F31F60-A9F5-661A-42A4-BDA7C61FA8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8645" t="17628" r="7794" b="20499"/>
          <a:stretch>
            <a:fillRect/>
          </a:stretch>
        </p:blipFill>
        <p:spPr bwMode="auto">
          <a:xfrm>
            <a:off x="4708098" y="5885873"/>
            <a:ext cx="3064835" cy="572930"/>
          </a:xfrm>
          <a:prstGeom prst="rect">
            <a:avLst/>
          </a:prstGeom>
          <a:noFill/>
          <a:extLst>
            <a:ext uri="{909E8E84-426E-40DD-AFC4-6F175D3DCCD1}">
              <a14:hiddenFill xmlns:a14="http://schemas.microsoft.com/office/drawing/2010/main">
                <a:solidFill>
                  <a:srgbClr val="FFFFFF"/>
                </a:solidFill>
              </a14:hiddenFill>
            </a:ext>
          </a:extLst>
        </p:spPr>
      </p:pic>
      <p:sp>
        <p:nvSpPr>
          <p:cNvPr id="3" name="PB">
            <a:extLst>
              <a:ext uri="{FF2B5EF4-FFF2-40B4-BE49-F238E27FC236}">
                <a16:creationId xmlns:a16="http://schemas.microsoft.com/office/drawing/2014/main" id="{32FA58AE-B906-184A-35D9-75F2756FDE44}"/>
              </a:ext>
            </a:extLst>
          </p:cNvPr>
          <p:cNvSpPr/>
          <p:nvPr/>
        </p:nvSpPr>
        <p:spPr>
          <a:xfrm>
            <a:off x="0" y="6756400"/>
            <a:ext cx="11321143"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3883806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0239A-C3CA-E202-7617-7FB0E437885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C00F7B3-63C2-FE4C-9B56-BBAFE6604208}"/>
              </a:ext>
            </a:extLst>
          </p:cNvPr>
          <p:cNvSpPr>
            <a:spLocks noGrp="1"/>
          </p:cNvSpPr>
          <p:nvPr>
            <p:ph type="ctrTitle"/>
          </p:nvPr>
        </p:nvSpPr>
        <p:spPr>
          <a:xfrm>
            <a:off x="6362371" y="1314805"/>
            <a:ext cx="5829629" cy="1786411"/>
          </a:xfrm>
        </p:spPr>
        <p:txBody>
          <a:bodyPr rtlCol="0"/>
          <a:lstStyle>
            <a:defPPr>
              <a:defRPr lang="de-DE"/>
            </a:defPPr>
          </a:lstStyle>
          <a:p>
            <a:r>
              <a:rPr lang="en-US" sz="4000" cap="none" dirty="0" err="1"/>
              <a:t>NanoGPTQ</a:t>
            </a:r>
            <a:endParaRPr lang="de-DE" sz="4000" cap="none" dirty="0"/>
          </a:p>
        </p:txBody>
      </p:sp>
      <p:sp>
        <p:nvSpPr>
          <p:cNvPr id="3" name="Titel 1">
            <a:extLst>
              <a:ext uri="{FF2B5EF4-FFF2-40B4-BE49-F238E27FC236}">
                <a16:creationId xmlns:a16="http://schemas.microsoft.com/office/drawing/2014/main" id="{11D7F5A1-59AE-C9F9-E92C-1D3F4449E712}"/>
              </a:ext>
            </a:extLst>
          </p:cNvPr>
          <p:cNvSpPr txBox="1">
            <a:spLocks/>
          </p:cNvSpPr>
          <p:nvPr/>
        </p:nvSpPr>
        <p:spPr>
          <a:xfrm>
            <a:off x="6743877" y="1964627"/>
            <a:ext cx="5829628" cy="1464373"/>
          </a:xfrm>
          <a:prstGeom prst="rect">
            <a:avLst/>
          </a:prstGeom>
        </p:spPr>
        <p:txBody>
          <a:bodyPr vert="horz" lIns="91440" tIns="45720" rIns="91440" bIns="45720" rtlCol="0" anchor="b">
            <a:noAutofit/>
          </a:bodyPr>
          <a:lstStyle>
            <a:defPPr>
              <a:defRPr lang="de-DE"/>
            </a:defPPr>
            <a:lvl1pPr algn="l" defTabSz="914400" rtl="0" eaLnBrk="1" latinLnBrk="0" hangingPunct="1">
              <a:lnSpc>
                <a:spcPct val="90000"/>
              </a:lnSpc>
              <a:spcBef>
                <a:spcPct val="0"/>
              </a:spcBef>
              <a:buNone/>
              <a:defRPr lang="de-DE" sz="3600" kern="1200" cap="all" spc="150" baseline="0">
                <a:solidFill>
                  <a:schemeClr val="tx1"/>
                </a:solidFill>
                <a:latin typeface="+mj-lt"/>
                <a:ea typeface="+mj-ea"/>
                <a:cs typeface="+mj-cs"/>
              </a:defRPr>
            </a:lvl1pPr>
          </a:lstStyle>
          <a:p>
            <a:r>
              <a:rPr lang="en-US" sz="2000" cap="none" dirty="0">
                <a:latin typeface="+mn-lt"/>
              </a:rPr>
              <a:t>Philipp Sepin</a:t>
            </a:r>
          </a:p>
        </p:txBody>
      </p:sp>
      <p:sp>
        <p:nvSpPr>
          <p:cNvPr id="5" name="Titel 1">
            <a:extLst>
              <a:ext uri="{FF2B5EF4-FFF2-40B4-BE49-F238E27FC236}">
                <a16:creationId xmlns:a16="http://schemas.microsoft.com/office/drawing/2014/main" id="{8ED886E5-5E9E-D8E8-238F-23DADB26D150}"/>
              </a:ext>
            </a:extLst>
          </p:cNvPr>
          <p:cNvSpPr txBox="1">
            <a:spLocks/>
          </p:cNvSpPr>
          <p:nvPr/>
        </p:nvSpPr>
        <p:spPr>
          <a:xfrm>
            <a:off x="1613826" y="3933132"/>
            <a:ext cx="6721748" cy="1786411"/>
          </a:xfrm>
          <a:prstGeom prst="rect">
            <a:avLst/>
          </a:prstGeom>
        </p:spPr>
        <p:txBody>
          <a:bodyPr vert="horz" lIns="91440" tIns="45720" rIns="91440" bIns="45720" rtlCol="0" anchor="b">
            <a:noAutofit/>
          </a:bodyPr>
          <a:lstStyle>
            <a:defPPr>
              <a:defRPr lang="de-DE"/>
            </a:defPPr>
            <a:lvl1pPr algn="l" defTabSz="914400" rtl="0" eaLnBrk="1" latinLnBrk="0" hangingPunct="1">
              <a:lnSpc>
                <a:spcPct val="90000"/>
              </a:lnSpc>
              <a:spcBef>
                <a:spcPct val="0"/>
              </a:spcBef>
              <a:buNone/>
              <a:defRPr lang="de-DE" sz="3600" kern="1200" cap="all" spc="150" baseline="0">
                <a:solidFill>
                  <a:schemeClr val="tx1"/>
                </a:solidFill>
                <a:latin typeface="+mj-lt"/>
                <a:ea typeface="+mj-ea"/>
                <a:cs typeface="+mj-cs"/>
              </a:defRPr>
            </a:lvl1pPr>
          </a:lstStyle>
          <a:p>
            <a:endParaRPr lang="en-US" sz="4000" cap="none" dirty="0">
              <a:latin typeface="+mn-lt"/>
            </a:endParaRPr>
          </a:p>
        </p:txBody>
      </p:sp>
      <p:sp>
        <p:nvSpPr>
          <p:cNvPr id="6" name="PB">
            <a:extLst>
              <a:ext uri="{FF2B5EF4-FFF2-40B4-BE49-F238E27FC236}">
                <a16:creationId xmlns:a16="http://schemas.microsoft.com/office/drawing/2014/main" id="{002FE46B-B838-3143-FD5F-FA8602522F93}"/>
              </a:ext>
            </a:extLst>
          </p:cNvPr>
          <p:cNvSpPr/>
          <p:nvPr/>
        </p:nvSpPr>
        <p:spPr>
          <a:xfrm>
            <a:off x="0" y="6756400"/>
            <a:ext cx="12192000" cy="101600"/>
          </a:xfrm>
          <a:prstGeom prst="rect">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AT"/>
          </a:p>
        </p:txBody>
      </p:sp>
    </p:spTree>
    <p:extLst>
      <p:ext uri="{BB962C8B-B14F-4D97-AF65-F5344CB8AC3E}">
        <p14:creationId xmlns:p14="http://schemas.microsoft.com/office/powerpoint/2010/main" val="2525874784"/>
      </p:ext>
    </p:extLst>
  </p:cSld>
  <p:clrMapOvr>
    <a:masterClrMapping/>
  </p:clrMapOvr>
</p:sld>
</file>

<file path=ppt/theme/theme1.xml><?xml version="1.0" encoding="utf-8"?>
<a:theme xmlns:a="http://schemas.openxmlformats.org/drawingml/2006/main" name="Office-Design">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2977038_TF67328976_Win32" id="{B33B3472-3038-4EDE-B882-22737988B640}" vid="{AB05DB33-E781-44B8-AAD8-AFD94469E248}"/>
    </a:ext>
  </a:extLst>
</a:theme>
</file>

<file path=ppt/theme/theme2.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49168DCE-134F-4610-A6AA-88CEBE8D71D2}">
  <ds:schemaRefs>
    <ds:schemaRef ds:uri="http://purl.org/dc/dcmitype/"/>
    <ds:schemaRef ds:uri="http://schemas.microsoft.com/office/2006/metadata/properties"/>
    <ds:schemaRef ds:uri="http://purl.org/dc/terms/"/>
    <ds:schemaRef ds:uri="http://schemas.microsoft.com/office/2006/documentManagement/types"/>
    <ds:schemaRef ds:uri="http://schemas.microsoft.com/office/infopath/2007/PartnerControls"/>
    <ds:schemaRef ds:uri="71af3243-3dd4-4a8d-8c0d-dd76da1f02a5"/>
    <ds:schemaRef ds:uri="http://purl.org/dc/elements/1.1/"/>
    <ds:schemaRef ds:uri="http://www.w3.org/XML/1998/namespace"/>
    <ds:schemaRef ds:uri="230e9df3-be65-4c73-a93b-d1236ebd677e"/>
    <ds:schemaRef ds:uri="http://schemas.openxmlformats.org/package/2006/metadata/core-properties"/>
    <ds:schemaRef ds:uri="16c05727-aa75-4e4a-9b5f-8a80a1165891"/>
    <ds:schemaRef ds:uri="http://schemas.microsoft.com/sharepoint/v3"/>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Minimalistische Präsentation</Template>
  <TotalTime>0</TotalTime>
  <Words>889</Words>
  <Application>Microsoft Office PowerPoint</Application>
  <PresentationFormat>Breitbild</PresentationFormat>
  <Paragraphs>114</Paragraphs>
  <Slides>14</Slides>
  <Notes>14</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14</vt:i4>
      </vt:variant>
    </vt:vector>
  </HeadingPairs>
  <TitlesOfParts>
    <vt:vector size="19" baseType="lpstr">
      <vt:lpstr>Arial</vt:lpstr>
      <vt:lpstr>Calibri</vt:lpstr>
      <vt:lpstr>Consolas</vt:lpstr>
      <vt:lpstr>Tenorite</vt:lpstr>
      <vt:lpstr>Office-Design</vt:lpstr>
      <vt:lpstr>NanoGPTQ</vt:lpstr>
      <vt:lpstr>Large Language Models</vt:lpstr>
      <vt:lpstr>Large Language Models</vt:lpstr>
      <vt:lpstr>Quantization</vt:lpstr>
      <vt:lpstr>Quantization</vt:lpstr>
      <vt:lpstr>What I did</vt:lpstr>
      <vt:lpstr>What I did</vt:lpstr>
      <vt:lpstr>What I did</vt:lpstr>
      <vt:lpstr>Results</vt:lpstr>
      <vt:lpstr>Results</vt:lpstr>
      <vt:lpstr>Demonstration</vt:lpstr>
      <vt:lpstr>Insights</vt:lpstr>
      <vt:lpstr>Insights</vt:lpstr>
      <vt:lpstr>NanoGPTQ</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aqiyum</dc:creator>
  <cp:lastModifiedBy>Sepin, Philipp</cp:lastModifiedBy>
  <cp:revision>58</cp:revision>
  <cp:lastPrinted>2026-01-12T23:09:56Z</cp:lastPrinted>
  <dcterms:created xsi:type="dcterms:W3CDTF">2025-11-01T19:53:05Z</dcterms:created>
  <dcterms:modified xsi:type="dcterms:W3CDTF">2026-01-14T15:17:52Z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